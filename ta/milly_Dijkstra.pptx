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22"/>
  </p:notesMasterIdLst>
  <p:sldIdLst>
    <p:sldId id="256" r:id="rId2"/>
    <p:sldId id="259" r:id="rId3"/>
    <p:sldId id="260" r:id="rId4"/>
    <p:sldId id="289" r:id="rId5"/>
    <p:sldId id="262" r:id="rId6"/>
    <p:sldId id="270" r:id="rId7"/>
    <p:sldId id="271" r:id="rId8"/>
    <p:sldId id="272" r:id="rId9"/>
    <p:sldId id="273" r:id="rId10"/>
    <p:sldId id="275" r:id="rId11"/>
    <p:sldId id="276" r:id="rId12"/>
    <p:sldId id="277" r:id="rId13"/>
    <p:sldId id="278" r:id="rId14"/>
    <p:sldId id="280" r:id="rId15"/>
    <p:sldId id="292" r:id="rId16"/>
    <p:sldId id="263" r:id="rId17"/>
    <p:sldId id="294" r:id="rId18"/>
    <p:sldId id="293" r:id="rId19"/>
    <p:sldId id="264" r:id="rId20"/>
    <p:sldId id="288" r:id="rId21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" id="{4CC91BBB-1022-45D9-A62C-6BE1165AF2FB}">
          <p14:sldIdLst>
            <p14:sldId id="256"/>
          </p14:sldIdLst>
        </p14:section>
        <p14:section name="Introduction" id="{DE2CCF9B-9428-478A-A15D-6D45FD8D946A}">
          <p14:sldIdLst>
            <p14:sldId id="259"/>
            <p14:sldId id="260"/>
            <p14:sldId id="289"/>
          </p14:sldIdLst>
        </p14:section>
        <p14:section name="Demo" id="{4D5D68DA-4935-4091-A134-5B71F31F17C1}">
          <p14:sldIdLst>
            <p14:sldId id="262"/>
            <p14:sldId id="270"/>
            <p14:sldId id="271"/>
            <p14:sldId id="272"/>
            <p14:sldId id="273"/>
            <p14:sldId id="275"/>
            <p14:sldId id="276"/>
            <p14:sldId id="277"/>
            <p14:sldId id="278"/>
            <p14:sldId id="280"/>
          </p14:sldIdLst>
        </p14:section>
        <p14:section name="Algorithm" id="{14115C79-777D-48A1-9DD7-9B93A81E2B8D}">
          <p14:sldIdLst>
            <p14:sldId id="292"/>
          </p14:sldIdLst>
        </p14:section>
        <p14:section name="Remarks" id="{6E21519F-D6A8-441F-ACA5-B946B193D64C}">
          <p14:sldIdLst>
            <p14:sldId id="263"/>
            <p14:sldId id="294"/>
            <p14:sldId id="293"/>
          </p14:sldIdLst>
        </p14:section>
        <p14:section name="Summary" id="{A7143BD5-232C-4A16-9704-A0C8B3B71194}">
          <p14:sldIdLst>
            <p14:sldId id="264"/>
          </p14:sldIdLst>
        </p14:section>
        <p14:section name="More..." id="{F33015D8-F534-4497-A610-F63A8A1EC49F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CC00"/>
    <a:srgbClr val="FF0000"/>
    <a:srgbClr val="D7D7D7"/>
    <a:srgbClr val="008000"/>
    <a:srgbClr val="FF7C80"/>
    <a:srgbClr val="FF00FF"/>
    <a:srgbClr val="FF6600"/>
    <a:srgbClr val="FF33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7" autoAdjust="0"/>
    <p:restoredTop sz="77768" autoAdjust="0"/>
  </p:normalViewPr>
  <p:slideViewPr>
    <p:cSldViewPr>
      <p:cViewPr varScale="1">
        <p:scale>
          <a:sx n="73" d="100"/>
          <a:sy n="73" d="100"/>
        </p:scale>
        <p:origin x="21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" y="3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0"/>
    </p:cViewPr>
  </p:sorterViewPr>
  <p:notesViewPr>
    <p:cSldViewPr>
      <p:cViewPr varScale="1">
        <p:scale>
          <a:sx n="57" d="100"/>
          <a:sy n="57" d="100"/>
        </p:scale>
        <p:origin x="25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4" Type="http://schemas.openxmlformats.org/officeDocument/2006/relationships/image" Target="../media/image5.wmf"/><Relationship Id="rId5" Type="http://schemas.openxmlformats.org/officeDocument/2006/relationships/image" Target="../media/image6.wmf"/><Relationship Id="rId6" Type="http://schemas.openxmlformats.org/officeDocument/2006/relationships/image" Target="../media/image7.wmf"/><Relationship Id="rId1" Type="http://schemas.openxmlformats.org/officeDocument/2006/relationships/image" Target="../media/image2.wmf"/><Relationship Id="rId2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4" Type="http://schemas.openxmlformats.org/officeDocument/2006/relationships/image" Target="../media/image6.wmf"/><Relationship Id="rId5" Type="http://schemas.openxmlformats.org/officeDocument/2006/relationships/image" Target="../media/image2.wmf"/><Relationship Id="rId6" Type="http://schemas.openxmlformats.org/officeDocument/2006/relationships/image" Target="../media/image8.wmf"/><Relationship Id="rId1" Type="http://schemas.openxmlformats.org/officeDocument/2006/relationships/image" Target="../media/image4.wmf"/><Relationship Id="rId2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4" cy="511731"/>
          </a:xfrm>
          <a:prstGeom prst="rect">
            <a:avLst/>
          </a:prstGeom>
        </p:spPr>
        <p:txBody>
          <a:bodyPr vert="horz" lIns="95847" tIns="47924" rIns="95847" bIns="47924" rtlCol="0"/>
          <a:lstStyle>
            <a:lvl1pPr algn="l">
              <a:defRPr sz="13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4" cy="511731"/>
          </a:xfrm>
          <a:prstGeom prst="rect">
            <a:avLst/>
          </a:prstGeom>
        </p:spPr>
        <p:txBody>
          <a:bodyPr vert="horz" lIns="95847" tIns="47924" rIns="95847" bIns="47924" rtlCol="0"/>
          <a:lstStyle>
            <a:lvl1pPr algn="r">
              <a:defRPr sz="13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DDC38290-23F3-4E86-B4B7-0926F6305906}" type="datetimeFigureOut">
              <a:rPr lang="zh-CN" altLang="en-US"/>
              <a:pPr>
                <a:defRPr/>
              </a:pPr>
              <a:t>15/8/28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847" tIns="47924" rIns="95847" bIns="47924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5847" tIns="47924" rIns="95847" bIns="47924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5847" tIns="47924" rIns="95847" bIns="47924" rtlCol="0" anchor="b"/>
          <a:lstStyle>
            <a:lvl1pPr algn="l">
              <a:defRPr sz="13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4" cy="511731"/>
          </a:xfrm>
          <a:prstGeom prst="rect">
            <a:avLst/>
          </a:prstGeom>
        </p:spPr>
        <p:txBody>
          <a:bodyPr vert="horz" lIns="95847" tIns="47924" rIns="95847" bIns="47924" rtlCol="0" anchor="b"/>
          <a:lstStyle>
            <a:lvl1pPr algn="r">
              <a:defRPr sz="13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A74E1F65-2D30-409F-8138-236D1F0856E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6392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How does google know the</a:t>
            </a:r>
            <a:r>
              <a:rPr lang="en-US" altLang="zh-CN" baseline="0" dirty="0" smtClean="0"/>
              <a:t> path? What is the algorithm behind?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F65-2D30-409F-8138-236D1F0856E1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498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F65-2D30-409F-8138-236D1F0856E1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619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F65-2D30-409F-8138-236D1F0856E1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24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F65-2D30-409F-8138-236D1F0856E1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664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F65-2D30-409F-8138-236D1F0856E1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907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Even a single edge</a:t>
            </a:r>
            <a:r>
              <a:rPr lang="en-US" altLang="zh-CN" baseline="0" dirty="0" smtClean="0"/>
              <a:t> with negative weight can make Dijkstra’s algorithm invalid.</a:t>
            </a:r>
          </a:p>
          <a:p>
            <a:endParaRPr lang="en-US" altLang="zh-CN" baseline="0" dirty="0" smtClean="0"/>
          </a:p>
          <a:p>
            <a:r>
              <a:rPr lang="en-US" altLang="zh-CN" baseline="0" dirty="0" smtClean="0"/>
              <a:t>The shortest path is reversed.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F65-2D30-409F-8138-236D1F0856E1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092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Even a single edge</a:t>
            </a:r>
            <a:r>
              <a:rPr lang="en-US" altLang="zh-CN" baseline="0" dirty="0" smtClean="0"/>
              <a:t> with negative weight can make Dijkstra’s algorithm invalid.</a:t>
            </a:r>
          </a:p>
          <a:p>
            <a:endParaRPr lang="en-US" altLang="zh-CN" baseline="0" dirty="0" smtClean="0"/>
          </a:p>
          <a:p>
            <a:r>
              <a:rPr lang="en-US" altLang="zh-CN" baseline="0" dirty="0" smtClean="0"/>
              <a:t>The shortest path is reversed.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F65-2D30-409F-8138-236D1F0856E1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01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Even a single edge</a:t>
            </a:r>
            <a:r>
              <a:rPr lang="en-US" altLang="zh-CN" baseline="0" dirty="0" smtClean="0"/>
              <a:t> with negative weight can make Dijkstra’s algorithm invalid.</a:t>
            </a:r>
          </a:p>
          <a:p>
            <a:endParaRPr lang="en-US" altLang="zh-CN" baseline="0" dirty="0" smtClean="0"/>
          </a:p>
          <a:p>
            <a:r>
              <a:rPr lang="en-US" altLang="zh-CN" baseline="0" dirty="0" smtClean="0"/>
              <a:t>The shortest path is reversed.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F65-2D30-409F-8138-236D1F0856E1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994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468313" y="1628775"/>
            <a:ext cx="8135937" cy="1295400"/>
          </a:xfrm>
        </p:spPr>
        <p:txBody>
          <a:bodyPr/>
          <a:lstStyle>
            <a:lvl1pPr algn="ctr">
              <a:defRPr sz="4200">
                <a:ea typeface="黑体" pitchFamily="2" charset="-122"/>
              </a:defRPr>
            </a:lvl1pPr>
          </a:lstStyle>
          <a:p>
            <a:r>
              <a:rPr lang="zh-CN"/>
              <a:t>单击此处编辑母版标题样式</a:t>
            </a: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468313" y="3357563"/>
            <a:ext cx="8135937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400"/>
            </a:lvl1pPr>
          </a:lstStyle>
          <a:p>
            <a:r>
              <a:rPr lang="zh-CN"/>
              <a:t>单击此处编辑母版副标题样式</a:t>
            </a: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46174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6264275" cy="6477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10400" y="5979"/>
            <a:ext cx="2133600" cy="457200"/>
          </a:xfrm>
          <a:ln/>
        </p:spPr>
        <p:txBody>
          <a:bodyPr/>
          <a:lstStyle>
            <a:lvl1pPr>
              <a:defRPr sz="2400" b="1"/>
            </a:lvl1pPr>
          </a:lstStyle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780994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1EFD8-4CE4-4FC5-8754-C2F1A812D17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91925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6264275" cy="6477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68761"/>
            <a:ext cx="4038600" cy="53288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68761"/>
            <a:ext cx="4038600" cy="532888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2B656-4CDA-4B81-964E-2CD49003535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50054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778" y="140494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4040188" cy="6905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980529"/>
            <a:ext cx="4040188" cy="42646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340768"/>
            <a:ext cx="4041775" cy="69050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980529"/>
            <a:ext cx="4041775" cy="42646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sz="2400" b="1"/>
            </a:lvl1pPr>
          </a:lstStyle>
          <a:p>
            <a:pPr>
              <a:defRPr/>
            </a:pPr>
            <a:fld id="{25FE27EF-55D9-4A1F-85BB-9309A501575F}" type="slidenum">
              <a:rPr lang="zh-CN" altLang="zh-CN" smtClean="0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671771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2656"/>
            <a:ext cx="6264275" cy="6477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07B9E-F89E-4D55-A34C-02C1562DA484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7149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00987A-5673-4C84-B5EC-09D5956FD41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4077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CDCE84-971C-4880-859C-77221DEC25CB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36929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3D5222-5226-4D03-A64E-56705A5FC5B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7103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D3F51-134E-430E-94E9-F75A3C76F15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6952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92150"/>
            <a:ext cx="2057400" cy="59055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92150"/>
            <a:ext cx="6019800" cy="59055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F8021-CBE5-48A4-8252-6B49C862455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9163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5973" y="949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1BFE15DC-0A5A-4D65-A1DC-DC74DD1ACFA0}" type="slidenum">
              <a:rPr lang="zh-CN" altLang="zh-CN" smtClean="0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560405" y="208113"/>
            <a:ext cx="62642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5685"/>
            <a:ext cx="8229600" cy="5401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2" name="Rectangle 19"/>
          <p:cNvSpPr>
            <a:spLocks noChangeArrowheads="1"/>
          </p:cNvSpPr>
          <p:nvPr/>
        </p:nvSpPr>
        <p:spPr bwMode="auto">
          <a:xfrm>
            <a:off x="558426" y="998761"/>
            <a:ext cx="7799388" cy="5397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sz="2400">
              <a:latin typeface="Times New Roman" pitchFamily="2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3" Type="http://schemas.openxmlformats.org/officeDocument/2006/relationships/oleObject" Target="../embeddings/oleObject6.bin"/><Relationship Id="rId14" Type="http://schemas.openxmlformats.org/officeDocument/2006/relationships/oleObject" Target="../embeddings/oleObject7.bin"/><Relationship Id="rId15" Type="http://schemas.openxmlformats.org/officeDocument/2006/relationships/image" Target="../media/image6.wmf"/><Relationship Id="rId16" Type="http://schemas.openxmlformats.org/officeDocument/2006/relationships/oleObject" Target="../embeddings/oleObject8.bin"/><Relationship Id="rId17" Type="http://schemas.openxmlformats.org/officeDocument/2006/relationships/oleObject" Target="../embeddings/oleObject9.bin"/><Relationship Id="rId18" Type="http://schemas.openxmlformats.org/officeDocument/2006/relationships/oleObject" Target="../embeddings/oleObject10.bin"/><Relationship Id="rId19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2.w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3.wmf"/><Relationship Id="rId8" Type="http://schemas.openxmlformats.org/officeDocument/2006/relationships/oleObject" Target="../embeddings/oleObject3.bin"/><Relationship Id="rId9" Type="http://schemas.openxmlformats.org/officeDocument/2006/relationships/image" Target="../media/image4.wmf"/><Relationship Id="rId10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15.bin"/><Relationship Id="rId12" Type="http://schemas.openxmlformats.org/officeDocument/2006/relationships/oleObject" Target="../embeddings/oleObject16.bin"/><Relationship Id="rId13" Type="http://schemas.openxmlformats.org/officeDocument/2006/relationships/oleObject" Target="../embeddings/oleObject17.bin"/><Relationship Id="rId14" Type="http://schemas.openxmlformats.org/officeDocument/2006/relationships/oleObject" Target="../embeddings/oleObject18.bin"/><Relationship Id="rId15" Type="http://schemas.openxmlformats.org/officeDocument/2006/relationships/image" Target="../media/image6.wmf"/><Relationship Id="rId16" Type="http://schemas.openxmlformats.org/officeDocument/2006/relationships/oleObject" Target="../embeddings/oleObject19.bin"/><Relationship Id="rId17" Type="http://schemas.openxmlformats.org/officeDocument/2006/relationships/image" Target="../media/image2.wmf"/><Relationship Id="rId18" Type="http://schemas.openxmlformats.org/officeDocument/2006/relationships/oleObject" Target="../embeddings/oleObject20.bin"/><Relationship Id="rId19" Type="http://schemas.openxmlformats.org/officeDocument/2006/relationships/image" Target="../media/image8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4.wmf"/><Relationship Id="rId6" Type="http://schemas.openxmlformats.org/officeDocument/2006/relationships/oleObject" Target="../embeddings/oleObject12.bin"/><Relationship Id="rId7" Type="http://schemas.openxmlformats.org/officeDocument/2006/relationships/image" Target="../media/image5.wmf"/><Relationship Id="rId8" Type="http://schemas.openxmlformats.org/officeDocument/2006/relationships/oleObject" Target="../embeddings/oleObject13.bin"/><Relationship Id="rId9" Type="http://schemas.openxmlformats.org/officeDocument/2006/relationships/image" Target="../media/image7.wmf"/><Relationship Id="rId10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en.wikipedia.org/wiki/Bellman%E2%80%93Ford_algorithm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mzhang@cse.cuhk.edu.h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47664" y="477416"/>
            <a:ext cx="6336704" cy="1295400"/>
          </a:xfrm>
        </p:spPr>
        <p:txBody>
          <a:bodyPr/>
          <a:lstStyle/>
          <a:p>
            <a:r>
              <a:rPr lang="en-US" altLang="zh-CN" sz="4000" b="0" dirty="0" smtClean="0">
                <a:solidFill>
                  <a:schemeClr val="tx1"/>
                </a:solidFill>
              </a:rPr>
              <a:t>A Shortest Path Algorithm</a:t>
            </a:r>
            <a:endParaRPr lang="zh-CN" altLang="en-US" sz="4000" b="0" dirty="0">
              <a:solidFill>
                <a:schemeClr val="bg2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03696" y="5661248"/>
            <a:ext cx="8135937" cy="938362"/>
          </a:xfrm>
        </p:spPr>
        <p:txBody>
          <a:bodyPr/>
          <a:lstStyle/>
          <a:p>
            <a:r>
              <a:rPr lang="en-US" altLang="zh-CN" sz="2400" i="1" dirty="0" smtClean="0"/>
              <a:t>Presented by </a:t>
            </a:r>
            <a:r>
              <a:rPr lang="en-US" altLang="zh-CN" sz="2400" dirty="0" smtClean="0"/>
              <a:t>ZHANG, </a:t>
            </a:r>
            <a:r>
              <a:rPr lang="en-US" altLang="zh-CN" sz="2400" dirty="0" err="1" smtClean="0"/>
              <a:t>Mi</a:t>
            </a:r>
            <a:endParaRPr lang="en-US" altLang="zh-CN" sz="2400" dirty="0" smtClean="0"/>
          </a:p>
          <a:p>
            <a:r>
              <a:rPr lang="en-US" altLang="zh-CN" sz="2400" dirty="0" smtClean="0"/>
              <a:t>Aug. 28</a:t>
            </a:r>
            <a:r>
              <a:rPr lang="en-US" altLang="zh-CN" sz="2400" baseline="30000" dirty="0" smtClean="0"/>
              <a:t>th</a:t>
            </a:r>
            <a:r>
              <a:rPr lang="en-US" altLang="zh-CN" sz="2400" dirty="0" smtClean="0"/>
              <a:t>, 2015</a:t>
            </a:r>
            <a:endParaRPr lang="zh-CN" altLang="en-US" sz="2400" dirty="0"/>
          </a:p>
        </p:txBody>
      </p:sp>
      <p:sp>
        <p:nvSpPr>
          <p:cNvPr id="6" name="圆角矩形 5"/>
          <p:cNvSpPr/>
          <p:nvPr/>
        </p:nvSpPr>
        <p:spPr>
          <a:xfrm>
            <a:off x="603696" y="4626429"/>
            <a:ext cx="1069516" cy="526660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 smtClean="0"/>
              <a:t>Intro</a:t>
            </a:r>
            <a:endParaRPr lang="zh-CN" altLang="en-US" sz="3000" dirty="0"/>
          </a:p>
        </p:txBody>
      </p:sp>
      <p:sp>
        <p:nvSpPr>
          <p:cNvPr id="8" name="圆角矩形 7"/>
          <p:cNvSpPr/>
          <p:nvPr/>
        </p:nvSpPr>
        <p:spPr>
          <a:xfrm>
            <a:off x="1962720" y="3717031"/>
            <a:ext cx="1385144" cy="49662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3000" dirty="0" smtClean="0"/>
          </a:p>
          <a:p>
            <a:pPr algn="ctr"/>
            <a:r>
              <a:rPr lang="en-US" altLang="zh-CN" sz="3000" dirty="0" smtClean="0"/>
              <a:t>Demo</a:t>
            </a:r>
            <a:endParaRPr lang="zh-CN" altLang="en-US" sz="3000" dirty="0"/>
          </a:p>
          <a:p>
            <a:pPr algn="ctr"/>
            <a:endParaRPr lang="zh-CN" altLang="en-US" sz="3000" dirty="0"/>
          </a:p>
        </p:txBody>
      </p:sp>
      <p:sp>
        <p:nvSpPr>
          <p:cNvPr id="10" name="圆角矩形 9"/>
          <p:cNvSpPr/>
          <p:nvPr/>
        </p:nvSpPr>
        <p:spPr>
          <a:xfrm>
            <a:off x="6425363" y="3717031"/>
            <a:ext cx="1993343" cy="496621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/>
              <a:t>Summary</a:t>
            </a:r>
            <a:endParaRPr lang="zh-CN" altLang="en-US" sz="3000" dirty="0"/>
          </a:p>
        </p:txBody>
      </p:sp>
      <p:sp>
        <p:nvSpPr>
          <p:cNvPr id="11" name="圆角矩形 10"/>
          <p:cNvSpPr/>
          <p:nvPr/>
        </p:nvSpPr>
        <p:spPr>
          <a:xfrm>
            <a:off x="3949038" y="4537520"/>
            <a:ext cx="2125161" cy="615569"/>
          </a:xfrm>
          <a:prstGeom prst="round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000" dirty="0"/>
              <a:t>Algorithm</a:t>
            </a:r>
            <a:endParaRPr lang="zh-CN" altLang="en-US" sz="3000" dirty="0"/>
          </a:p>
        </p:txBody>
      </p:sp>
      <p:cxnSp>
        <p:nvCxnSpPr>
          <p:cNvPr id="71" name="直接箭头连接符 70"/>
          <p:cNvCxnSpPr>
            <a:stCxn id="6" idx="0"/>
            <a:endCxn id="8" idx="1"/>
          </p:cNvCxnSpPr>
          <p:nvPr/>
        </p:nvCxnSpPr>
        <p:spPr>
          <a:xfrm flipV="1">
            <a:off x="1138454" y="3965342"/>
            <a:ext cx="824266" cy="6610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8" idx="3"/>
          </p:cNvCxnSpPr>
          <p:nvPr/>
        </p:nvCxnSpPr>
        <p:spPr>
          <a:xfrm>
            <a:off x="3347864" y="3965342"/>
            <a:ext cx="1224136" cy="572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 flipV="1">
            <a:off x="5364088" y="3942303"/>
            <a:ext cx="1061275" cy="5952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64924" y="2188658"/>
            <a:ext cx="4957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err="1">
                <a:solidFill>
                  <a:schemeClr val="bg2"/>
                </a:solidFill>
              </a:rPr>
              <a:t>Dijkstra’s</a:t>
            </a:r>
            <a:r>
              <a:rPr lang="en-US" altLang="zh-CN" sz="4000" dirty="0">
                <a:solidFill>
                  <a:schemeClr val="bg2"/>
                </a:solidFill>
              </a:rPr>
              <a:t> Algorithm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2671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 smtClean="0"/>
              <a:t>Introduction - </a:t>
            </a:r>
            <a:r>
              <a:rPr lang="en-US" altLang="zh-CN" sz="4000" i="1" dirty="0" smtClean="0"/>
              <a:t>Background</a:t>
            </a:r>
            <a:endParaRPr lang="zh-CN" altLang="en-US" sz="4000" i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1560" y="1550160"/>
            <a:ext cx="3928448" cy="4953818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endParaRPr lang="zh-CN" altLang="en-US" dirty="0"/>
          </a:p>
        </p:txBody>
      </p:sp>
      <p:pic>
        <p:nvPicPr>
          <p:cNvPr id="14" name="内容占位符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395" y="1550160"/>
            <a:ext cx="3394685" cy="421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FE27EF-55D9-4A1F-85BB-9309A501575F}" type="slidenum">
              <a:rPr lang="zh-CN" altLang="zh-CN" smtClean="0"/>
              <a:pPr>
                <a:defRPr/>
              </a:pPr>
              <a:t>2</a:t>
            </a:fld>
            <a:endParaRPr lang="zh-CN" altLang="zh-CN"/>
          </a:p>
        </p:txBody>
      </p:sp>
      <p:sp>
        <p:nvSpPr>
          <p:cNvPr id="22" name="内容占位符 12"/>
          <p:cNvSpPr txBox="1">
            <a:spLocks/>
          </p:cNvSpPr>
          <p:nvPr/>
        </p:nvSpPr>
        <p:spPr bwMode="auto">
          <a:xfrm>
            <a:off x="4365210" y="3861048"/>
            <a:ext cx="4041775" cy="956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altLang="zh-CN" sz="4400" kern="0" dirty="0" smtClean="0"/>
              <a:t>How?</a:t>
            </a:r>
            <a:endParaRPr lang="zh-CN" altLang="en-US" sz="4400" kern="0" dirty="0"/>
          </a:p>
        </p:txBody>
      </p:sp>
      <p:sp>
        <p:nvSpPr>
          <p:cNvPr id="5" name="TextBox 4"/>
          <p:cNvSpPr txBox="1"/>
          <p:nvPr/>
        </p:nvSpPr>
        <p:spPr>
          <a:xfrm>
            <a:off x="4211960" y="2002994"/>
            <a:ext cx="4348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zh-CN" sz="2800" dirty="0" smtClean="0">
                <a:latin typeface="+mn-lt"/>
              </a:rPr>
              <a:t>Path choosing on map:</a:t>
            </a:r>
            <a:endParaRPr lang="en-US" altLang="zh-C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384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Introduction - </a:t>
            </a:r>
            <a:r>
              <a:rPr lang="en-US" altLang="zh-CN" i="1" dirty="0" smtClean="0"/>
              <a:t>Concepts</a:t>
            </a:r>
            <a:endParaRPr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b="1" dirty="0" smtClean="0"/>
              <a:t>Directed or </a:t>
            </a:r>
            <a:r>
              <a:rPr lang="en-US" altLang="zh-CN" sz="2800" b="1" dirty="0" smtClean="0">
                <a:solidFill>
                  <a:srgbClr val="3333FF"/>
                </a:solidFill>
              </a:rPr>
              <a:t>Undirected Graph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G(V, E)</a:t>
            </a:r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Weighted Graph</a:t>
            </a:r>
            <a:endParaRPr lang="en-US" altLang="zh-CN" sz="2800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Distance &amp; Shortest Path</a:t>
            </a:r>
          </a:p>
          <a:p>
            <a:pPr lvl="1"/>
            <a:r>
              <a:rPr lang="en-US" altLang="zh-CN" sz="2400" dirty="0" smtClean="0">
                <a:solidFill>
                  <a:srgbClr val="FF0000"/>
                </a:solidFill>
              </a:rPr>
              <a:t>A path </a:t>
            </a:r>
            <a:r>
              <a:rPr lang="en-US" altLang="zh-CN" sz="2400" dirty="0" smtClean="0"/>
              <a:t>of minimum total weight between </a:t>
            </a:r>
            <a:r>
              <a:rPr lang="en-US" altLang="zh-CN" sz="2400" b="1" i="1" dirty="0" smtClean="0"/>
              <a:t>s</a:t>
            </a:r>
            <a:r>
              <a:rPr lang="en-US" altLang="zh-CN" sz="2400" dirty="0" smtClean="0"/>
              <a:t> and </a:t>
            </a:r>
            <a:r>
              <a:rPr lang="en-US" altLang="zh-CN" sz="2400" b="1" i="1" dirty="0" smtClean="0"/>
              <a:t>t.</a:t>
            </a:r>
          </a:p>
          <a:p>
            <a:endParaRPr lang="en-US" altLang="zh-CN" sz="2800" b="1" dirty="0" smtClean="0"/>
          </a:p>
        </p:txBody>
      </p:sp>
      <p:sp>
        <p:nvSpPr>
          <p:cNvPr id="110" name="文本框 109"/>
          <p:cNvSpPr txBox="1"/>
          <p:nvPr/>
        </p:nvSpPr>
        <p:spPr>
          <a:xfrm>
            <a:off x="3923928" y="4509120"/>
            <a:ext cx="253466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Path 1: </a:t>
            </a:r>
            <a:r>
              <a:rPr lang="en-US" altLang="zh-CN" sz="2400" b="1" i="1" dirty="0" smtClean="0">
                <a:latin typeface="+mj-lt"/>
              </a:rPr>
              <a:t>s </a:t>
            </a:r>
            <a:r>
              <a:rPr lang="zh-CN" altLang="en-US" sz="2400" dirty="0" smtClean="0">
                <a:latin typeface="+mj-lt"/>
              </a:rPr>
              <a:t>→ </a:t>
            </a:r>
            <a:r>
              <a:rPr lang="en-US" altLang="zh-CN" sz="2400" dirty="0" smtClean="0">
                <a:latin typeface="+mj-lt"/>
              </a:rPr>
              <a:t>B → </a:t>
            </a:r>
            <a:r>
              <a:rPr lang="en-US" altLang="zh-CN" sz="2400" b="1" i="1" dirty="0" smtClean="0">
                <a:latin typeface="+mj-lt"/>
              </a:rPr>
              <a:t>t</a:t>
            </a:r>
            <a:r>
              <a:rPr lang="zh-CN" altLang="en-US" sz="2400" dirty="0" smtClean="0">
                <a:latin typeface="+mj-lt"/>
              </a:rPr>
              <a:t> </a:t>
            </a:r>
            <a:endParaRPr lang="zh-CN" altLang="en-US" sz="2400" dirty="0">
              <a:latin typeface="+mj-lt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3923928" y="5012603"/>
            <a:ext cx="3244799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Path 2: </a:t>
            </a:r>
            <a:r>
              <a:rPr lang="en-US" altLang="zh-CN" sz="2400" b="1" i="1" dirty="0" smtClean="0">
                <a:latin typeface="+mj-lt"/>
              </a:rPr>
              <a:t>s</a:t>
            </a:r>
            <a:r>
              <a:rPr lang="en-US" altLang="zh-CN" sz="2400" i="1" dirty="0" smtClean="0">
                <a:latin typeface="+mj-lt"/>
              </a:rPr>
              <a:t> </a:t>
            </a:r>
            <a:r>
              <a:rPr lang="zh-CN" altLang="en-US" sz="2400" dirty="0" smtClean="0">
                <a:latin typeface="+mj-lt"/>
              </a:rPr>
              <a:t>→ </a:t>
            </a:r>
            <a:r>
              <a:rPr lang="en-US" altLang="zh-CN" sz="2400" dirty="0" smtClean="0">
                <a:latin typeface="+mj-lt"/>
              </a:rPr>
              <a:t>B → C</a:t>
            </a:r>
            <a:r>
              <a:rPr lang="zh-CN" altLang="en-US" sz="2400" dirty="0" smtClean="0">
                <a:latin typeface="+mj-lt"/>
              </a:rPr>
              <a:t> → </a:t>
            </a:r>
            <a:r>
              <a:rPr lang="en-US" altLang="zh-CN" sz="2400" b="1" i="1" dirty="0" smtClean="0">
                <a:latin typeface="+mj-lt"/>
              </a:rPr>
              <a:t>t</a:t>
            </a:r>
            <a:endParaRPr lang="zh-CN" altLang="en-US" sz="2400" b="1" i="1" dirty="0">
              <a:latin typeface="+mj-lt"/>
            </a:endParaRPr>
          </a:p>
        </p:txBody>
      </p:sp>
      <p:graphicFrame>
        <p:nvGraphicFramePr>
          <p:cNvPr id="124" name="对象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663062"/>
              </p:ext>
            </p:extLst>
          </p:nvPr>
        </p:nvGraphicFramePr>
        <p:xfrm>
          <a:off x="7608888" y="4510239"/>
          <a:ext cx="10731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39" name="Equation" r:id="rId4" imgW="571320" imgH="203040" progId="Equation.DSMT4">
                  <p:embed/>
                </p:oleObj>
              </mc:Choice>
              <mc:Fallback>
                <p:oleObj name="Equation" r:id="rId4" imgW="571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08888" y="4510239"/>
                        <a:ext cx="10731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对象 1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276119"/>
              </p:ext>
            </p:extLst>
          </p:nvPr>
        </p:nvGraphicFramePr>
        <p:xfrm>
          <a:off x="7613650" y="5035702"/>
          <a:ext cx="9540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0" name="Equation" r:id="rId6" imgW="507960" imgH="203040" progId="Equation.DSMT4">
                  <p:embed/>
                </p:oleObj>
              </mc:Choice>
              <mc:Fallback>
                <p:oleObj name="Equation" r:id="rId6" imgW="507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13650" y="5035702"/>
                        <a:ext cx="954088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" name="组合 200"/>
          <p:cNvGrpSpPr/>
          <p:nvPr/>
        </p:nvGrpSpPr>
        <p:grpSpPr>
          <a:xfrm>
            <a:off x="329587" y="4509120"/>
            <a:ext cx="3400440" cy="1722887"/>
            <a:chOff x="2048510" y="2185748"/>
            <a:chExt cx="5046981" cy="2557133"/>
          </a:xfrm>
        </p:grpSpPr>
        <p:sp>
          <p:nvSpPr>
            <p:cNvPr id="202" name="椭圆 201"/>
            <p:cNvSpPr/>
            <p:nvPr/>
          </p:nvSpPr>
          <p:spPr>
            <a:xfrm>
              <a:off x="2048510" y="2973825"/>
              <a:ext cx="790413" cy="742916"/>
            </a:xfrm>
            <a:prstGeom prst="ellips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i="1" dirty="0" smtClean="0">
                  <a:solidFill>
                    <a:schemeClr val="tx1"/>
                  </a:solidFill>
                </a:rPr>
                <a:t>s</a:t>
              </a:r>
              <a:endParaRPr lang="zh-CN" altLang="en-US" sz="3600" b="1" i="1" dirty="0">
                <a:solidFill>
                  <a:schemeClr val="tx1"/>
                </a:solidFill>
              </a:endParaRPr>
            </a:p>
          </p:txBody>
        </p:sp>
        <p:sp>
          <p:nvSpPr>
            <p:cNvPr id="203" name="椭圆 202"/>
            <p:cNvSpPr/>
            <p:nvPr/>
          </p:nvSpPr>
          <p:spPr>
            <a:xfrm>
              <a:off x="3231954" y="3803106"/>
              <a:ext cx="681332" cy="646474"/>
            </a:xfrm>
            <a:prstGeom prst="ellips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800" dirty="0" smtClean="0"/>
                <a:t>A</a:t>
              </a:r>
              <a:endParaRPr lang="zh-CN" altLang="en-US" sz="2800" dirty="0"/>
            </a:p>
          </p:txBody>
        </p:sp>
        <p:sp>
          <p:nvSpPr>
            <p:cNvPr id="204" name="椭圆 203"/>
            <p:cNvSpPr/>
            <p:nvPr/>
          </p:nvSpPr>
          <p:spPr>
            <a:xfrm>
              <a:off x="6446965" y="3337084"/>
              <a:ext cx="648526" cy="643320"/>
            </a:xfrm>
            <a:prstGeom prst="ellips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3600" b="1" i="1" dirty="0" smtClean="0"/>
                <a:t>t</a:t>
              </a:r>
              <a:endParaRPr lang="zh-CN" altLang="en-US" sz="3600" b="1" i="1" dirty="0"/>
            </a:p>
          </p:txBody>
        </p:sp>
        <p:cxnSp>
          <p:nvCxnSpPr>
            <p:cNvPr id="205" name="直接连接符 204"/>
            <p:cNvCxnSpPr/>
            <p:nvPr/>
          </p:nvCxnSpPr>
          <p:spPr>
            <a:xfrm flipV="1">
              <a:off x="2824923" y="2656008"/>
              <a:ext cx="1508760" cy="548641"/>
            </a:xfrm>
            <a:prstGeom prst="lin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/>
            <p:cNvCxnSpPr/>
            <p:nvPr/>
          </p:nvCxnSpPr>
          <p:spPr>
            <a:xfrm>
              <a:off x="4965191" y="2724588"/>
              <a:ext cx="1528762" cy="752475"/>
            </a:xfrm>
            <a:prstGeom prst="lin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>
              <a:off x="2695383" y="3638988"/>
              <a:ext cx="556260" cy="373380"/>
            </a:xfrm>
            <a:prstGeom prst="lin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flipV="1">
              <a:off x="5460491" y="3815201"/>
              <a:ext cx="1000125" cy="319087"/>
            </a:xfrm>
            <a:prstGeom prst="lin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>
              <a:endCxn id="217" idx="2"/>
            </p:cNvCxnSpPr>
            <p:nvPr/>
          </p:nvCxnSpPr>
          <p:spPr>
            <a:xfrm>
              <a:off x="3906963" y="4187628"/>
              <a:ext cx="901303" cy="58557"/>
            </a:xfrm>
            <a:prstGeom prst="lin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文本框 162"/>
            <p:cNvSpPr txBox="1"/>
            <p:nvPr/>
          </p:nvSpPr>
          <p:spPr>
            <a:xfrm>
              <a:off x="3419476" y="2185748"/>
              <a:ext cx="573395" cy="593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lang="en-US" altLang="zh-CN" sz="2000" b="1" dirty="0" smtClean="0"/>
                <a:t>2</a:t>
              </a:r>
              <a:endParaRPr lang="zh-CN" altLang="en-US" sz="2000" b="1" dirty="0"/>
            </a:p>
          </p:txBody>
        </p:sp>
        <p:sp>
          <p:nvSpPr>
            <p:cNvPr id="211" name="文本框 163"/>
            <p:cNvSpPr txBox="1"/>
            <p:nvPr/>
          </p:nvSpPr>
          <p:spPr>
            <a:xfrm>
              <a:off x="5585992" y="2636864"/>
              <a:ext cx="573395" cy="593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lang="en-US" altLang="zh-CN" sz="2000" b="1" dirty="0" smtClean="0"/>
                <a:t>9</a:t>
              </a:r>
              <a:endParaRPr lang="zh-CN" altLang="en-US" sz="2000" b="1" dirty="0"/>
            </a:p>
          </p:txBody>
        </p:sp>
        <p:sp>
          <p:nvSpPr>
            <p:cNvPr id="212" name="文本框 164"/>
            <p:cNvSpPr txBox="1"/>
            <p:nvPr/>
          </p:nvSpPr>
          <p:spPr>
            <a:xfrm>
              <a:off x="2573160" y="3772947"/>
              <a:ext cx="573395" cy="593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lang="en-US" altLang="zh-CN" sz="2000" b="1" dirty="0" smtClean="0"/>
                <a:t>5</a:t>
              </a:r>
              <a:endParaRPr lang="zh-CN" altLang="en-US" sz="2000" b="1" dirty="0"/>
            </a:p>
          </p:txBody>
        </p:sp>
        <p:sp>
          <p:nvSpPr>
            <p:cNvPr id="213" name="文本框 165"/>
            <p:cNvSpPr txBox="1"/>
            <p:nvPr/>
          </p:nvSpPr>
          <p:spPr>
            <a:xfrm>
              <a:off x="4084081" y="4149032"/>
              <a:ext cx="573395" cy="593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lang="en-US" altLang="zh-CN" sz="2000" b="1" dirty="0" smtClean="0"/>
                <a:t>4</a:t>
              </a:r>
              <a:endParaRPr lang="zh-CN" altLang="en-US" sz="2000" b="1" dirty="0"/>
            </a:p>
          </p:txBody>
        </p:sp>
        <p:sp>
          <p:nvSpPr>
            <p:cNvPr id="214" name="文本框 166"/>
            <p:cNvSpPr txBox="1"/>
            <p:nvPr/>
          </p:nvSpPr>
          <p:spPr>
            <a:xfrm>
              <a:off x="5874024" y="3861000"/>
              <a:ext cx="573395" cy="593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lang="en-US" altLang="zh-CN" sz="2000" b="1" dirty="0" smtClean="0"/>
                <a:t>2</a:t>
              </a:r>
              <a:endParaRPr lang="zh-CN" altLang="en-US" sz="2000" b="1" dirty="0"/>
            </a:p>
          </p:txBody>
        </p:sp>
        <p:cxnSp>
          <p:nvCxnSpPr>
            <p:cNvPr id="215" name="直接连接符 214"/>
            <p:cNvCxnSpPr/>
            <p:nvPr/>
          </p:nvCxnSpPr>
          <p:spPr>
            <a:xfrm>
              <a:off x="4746116" y="2891276"/>
              <a:ext cx="309562" cy="1047750"/>
            </a:xfrm>
            <a:prstGeom prst="lin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文本框 168"/>
            <p:cNvSpPr txBox="1"/>
            <p:nvPr/>
          </p:nvSpPr>
          <p:spPr>
            <a:xfrm>
              <a:off x="4798998" y="2973826"/>
              <a:ext cx="573395" cy="593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lang="en-US" altLang="zh-CN" sz="2000" b="1" dirty="0" smtClean="0"/>
                <a:t>1</a:t>
              </a:r>
              <a:endParaRPr lang="zh-CN" altLang="en-US" sz="2000" b="1" dirty="0"/>
            </a:p>
          </p:txBody>
        </p:sp>
        <p:sp>
          <p:nvSpPr>
            <p:cNvPr id="217" name="椭圆 216"/>
            <p:cNvSpPr/>
            <p:nvPr/>
          </p:nvSpPr>
          <p:spPr>
            <a:xfrm>
              <a:off x="4808266" y="3906783"/>
              <a:ext cx="678804" cy="678804"/>
            </a:xfrm>
            <a:prstGeom prst="ellips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800" dirty="0" smtClean="0"/>
                <a:t>C</a:t>
              </a:r>
              <a:endParaRPr lang="zh-CN" altLang="en-US" sz="2800" dirty="0"/>
            </a:p>
          </p:txBody>
        </p:sp>
        <p:sp>
          <p:nvSpPr>
            <p:cNvPr id="218" name="椭圆 217"/>
            <p:cNvSpPr/>
            <p:nvPr/>
          </p:nvSpPr>
          <p:spPr>
            <a:xfrm>
              <a:off x="4310934" y="2231800"/>
              <a:ext cx="693086" cy="693086"/>
            </a:xfrm>
            <a:prstGeom prst="ellips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800" dirty="0" smtClean="0"/>
                <a:t>B</a:t>
              </a:r>
              <a:endParaRPr lang="zh-CN" altLang="en-US" sz="2800" dirty="0"/>
            </a:p>
          </p:txBody>
        </p:sp>
        <p:cxnSp>
          <p:nvCxnSpPr>
            <p:cNvPr id="219" name="直接连接符 218"/>
            <p:cNvCxnSpPr/>
            <p:nvPr/>
          </p:nvCxnSpPr>
          <p:spPr>
            <a:xfrm flipH="1">
              <a:off x="3724085" y="2846508"/>
              <a:ext cx="739138" cy="975360"/>
            </a:xfrm>
            <a:prstGeom prst="line">
              <a:avLst/>
            </a:prstGeom>
            <a:ln w="38100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文本框 192"/>
            <p:cNvSpPr txBox="1"/>
            <p:nvPr/>
          </p:nvSpPr>
          <p:spPr>
            <a:xfrm>
              <a:off x="3549527" y="3069122"/>
              <a:ext cx="573395" cy="593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宋体" charset="-122"/>
                  <a:cs typeface="+mn-cs"/>
                </a:defRPr>
              </a:lvl9pPr>
            </a:lstStyle>
            <a:p>
              <a:r>
                <a:rPr lang="en-US" altLang="zh-CN" sz="2000" b="1" dirty="0" smtClean="0"/>
                <a:t>2</a:t>
              </a:r>
              <a:endParaRPr lang="zh-CN" altLang="en-US" sz="2000" b="1" dirty="0"/>
            </a:p>
          </p:txBody>
        </p:sp>
      </p:grpSp>
      <p:sp>
        <p:nvSpPr>
          <p:cNvPr id="47" name="椭圆 46"/>
          <p:cNvSpPr/>
          <p:nvPr/>
        </p:nvSpPr>
        <p:spPr>
          <a:xfrm>
            <a:off x="4942303" y="1766764"/>
            <a:ext cx="435748" cy="418516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48" name="椭圆 47"/>
          <p:cNvSpPr/>
          <p:nvPr/>
        </p:nvSpPr>
        <p:spPr>
          <a:xfrm>
            <a:off x="3923928" y="1766764"/>
            <a:ext cx="416428" cy="407502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635766"/>
              </p:ext>
            </p:extLst>
          </p:nvPr>
        </p:nvGraphicFramePr>
        <p:xfrm>
          <a:off x="3975456" y="1779511"/>
          <a:ext cx="347279" cy="38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1" name="Equation" r:id="rId8" imgW="126720" imgH="139680" progId="Equation.DSMT4">
                  <p:embed/>
                </p:oleObj>
              </mc:Choice>
              <mc:Fallback>
                <p:oleObj name="Equation" r:id="rId8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75456" y="1779511"/>
                        <a:ext cx="347279" cy="382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69869"/>
              </p:ext>
            </p:extLst>
          </p:nvPr>
        </p:nvGraphicFramePr>
        <p:xfrm>
          <a:off x="4990246" y="1799818"/>
          <a:ext cx="331402" cy="405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2" name="Equation" r:id="rId10" imgW="114120" imgH="139680" progId="Equation.DSMT4">
                  <p:embed/>
                </p:oleObj>
              </mc:Choice>
              <mc:Fallback>
                <p:oleObj name="Equation" r:id="rId10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90246" y="1799818"/>
                        <a:ext cx="331402" cy="405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连接符 50"/>
          <p:cNvCxnSpPr/>
          <p:nvPr/>
        </p:nvCxnSpPr>
        <p:spPr>
          <a:xfrm>
            <a:off x="4344231" y="1962526"/>
            <a:ext cx="581914" cy="0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椭圆 51"/>
          <p:cNvSpPr/>
          <p:nvPr/>
        </p:nvSpPr>
        <p:spPr>
          <a:xfrm>
            <a:off x="3142103" y="1766764"/>
            <a:ext cx="435748" cy="41851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53" name="椭圆 52"/>
          <p:cNvSpPr/>
          <p:nvPr/>
        </p:nvSpPr>
        <p:spPr>
          <a:xfrm>
            <a:off x="2123728" y="1766764"/>
            <a:ext cx="416428" cy="407502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graphicFrame>
        <p:nvGraphicFramePr>
          <p:cNvPr id="54" name="对象 53"/>
          <p:cNvGraphicFramePr>
            <a:graphicFrameLocks noChangeAspect="1"/>
          </p:cNvGraphicFramePr>
          <p:nvPr>
            <p:extLst/>
          </p:nvPr>
        </p:nvGraphicFramePr>
        <p:xfrm>
          <a:off x="2175256" y="1779511"/>
          <a:ext cx="347279" cy="38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3" name="Equation" r:id="rId12" imgW="126720" imgH="139680" progId="Equation.DSMT4">
                  <p:embed/>
                </p:oleObj>
              </mc:Choice>
              <mc:Fallback>
                <p:oleObj name="Equation" r:id="rId12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75256" y="1779511"/>
                        <a:ext cx="347279" cy="382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>
            <p:extLst/>
          </p:nvPr>
        </p:nvGraphicFramePr>
        <p:xfrm>
          <a:off x="3190046" y="1799818"/>
          <a:ext cx="331402" cy="405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4" name="Equation" r:id="rId13" imgW="114120" imgH="139680" progId="Equation.DSMT4">
                  <p:embed/>
                </p:oleObj>
              </mc:Choice>
              <mc:Fallback>
                <p:oleObj name="Equation" r:id="rId13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190046" y="1799818"/>
                        <a:ext cx="331402" cy="405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连接符 55"/>
          <p:cNvCxnSpPr/>
          <p:nvPr/>
        </p:nvCxnSpPr>
        <p:spPr>
          <a:xfrm>
            <a:off x="2540156" y="1930265"/>
            <a:ext cx="581914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2560189" y="2002273"/>
            <a:ext cx="58191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对象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144935"/>
              </p:ext>
            </p:extLst>
          </p:nvPr>
        </p:nvGraphicFramePr>
        <p:xfrm>
          <a:off x="5721821" y="1720677"/>
          <a:ext cx="15144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5" name="Equation" r:id="rId14" imgW="634680" imgH="203040" progId="Equation.DSMT4">
                  <p:embed/>
                </p:oleObj>
              </mc:Choice>
              <mc:Fallback>
                <p:oleObj name="Equation" r:id="rId14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21821" y="1720677"/>
                        <a:ext cx="15144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椭圆 58"/>
          <p:cNvSpPr/>
          <p:nvPr/>
        </p:nvSpPr>
        <p:spPr>
          <a:xfrm>
            <a:off x="3848220" y="2834691"/>
            <a:ext cx="435748" cy="418516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60" name="椭圆 59"/>
          <p:cNvSpPr/>
          <p:nvPr/>
        </p:nvSpPr>
        <p:spPr>
          <a:xfrm>
            <a:off x="2829845" y="2834691"/>
            <a:ext cx="416428" cy="407502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568651"/>
              </p:ext>
            </p:extLst>
          </p:nvPr>
        </p:nvGraphicFramePr>
        <p:xfrm>
          <a:off x="2881373" y="2847438"/>
          <a:ext cx="347279" cy="38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6" name="Equation" r:id="rId16" imgW="126720" imgH="139680" progId="Equation.DSMT4">
                  <p:embed/>
                </p:oleObj>
              </mc:Choice>
              <mc:Fallback>
                <p:oleObj name="Equation" r:id="rId16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81373" y="2847438"/>
                        <a:ext cx="347279" cy="382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094723"/>
              </p:ext>
            </p:extLst>
          </p:nvPr>
        </p:nvGraphicFramePr>
        <p:xfrm>
          <a:off x="3896163" y="2867745"/>
          <a:ext cx="331402" cy="405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7" name="Equation" r:id="rId17" imgW="114120" imgH="139680" progId="Equation.DSMT4">
                  <p:embed/>
                </p:oleObj>
              </mc:Choice>
              <mc:Fallback>
                <p:oleObj name="Equation" r:id="rId17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96163" y="2867745"/>
                        <a:ext cx="331402" cy="405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直接连接符 62"/>
          <p:cNvCxnSpPr/>
          <p:nvPr/>
        </p:nvCxnSpPr>
        <p:spPr>
          <a:xfrm>
            <a:off x="3250148" y="3030453"/>
            <a:ext cx="581914" cy="0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3355652" y="2636912"/>
            <a:ext cx="312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2</a:t>
            </a:r>
            <a:endParaRPr lang="zh-CN" altLang="en-US" sz="2400" b="1" dirty="0"/>
          </a:p>
        </p:txBody>
      </p:sp>
      <p:graphicFrame>
        <p:nvGraphicFramePr>
          <p:cNvPr id="65" name="对象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311853"/>
              </p:ext>
            </p:extLst>
          </p:nvPr>
        </p:nvGraphicFramePr>
        <p:xfrm>
          <a:off x="4738059" y="2800795"/>
          <a:ext cx="1634141" cy="484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848" name="Equation" r:id="rId18" imgW="685800" imgH="203040" progId="Equation.DSMT4">
                  <p:embed/>
                </p:oleObj>
              </mc:Choice>
              <mc:Fallback>
                <p:oleObj name="Equation" r:id="rId18" imgW="685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38059" y="2800795"/>
                        <a:ext cx="1634141" cy="484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3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2941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Introduction - </a:t>
            </a:r>
            <a:r>
              <a:rPr lang="en-US" altLang="zh-CN" i="1" dirty="0" smtClean="0"/>
              <a:t>Concepts</a:t>
            </a:r>
            <a:endParaRPr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b="1" dirty="0" smtClean="0"/>
              <a:t>Directed or </a:t>
            </a:r>
            <a:r>
              <a:rPr lang="en-US" altLang="zh-CN" sz="2800" b="1" dirty="0" smtClean="0">
                <a:solidFill>
                  <a:srgbClr val="3333FF"/>
                </a:solidFill>
              </a:rPr>
              <a:t>Undirected Graph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G(V, E)</a:t>
            </a:r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Weighted Graph</a:t>
            </a:r>
            <a:endParaRPr lang="en-US" altLang="zh-CN" sz="2800" dirty="0" smtClean="0"/>
          </a:p>
          <a:p>
            <a:endParaRPr lang="en-US" altLang="zh-CN" sz="2800" b="1" dirty="0" smtClean="0"/>
          </a:p>
          <a:p>
            <a:r>
              <a:rPr lang="en-US" altLang="zh-CN" sz="2800" b="1" dirty="0" smtClean="0"/>
              <a:t>Distance &amp; Shortest Path</a:t>
            </a:r>
          </a:p>
          <a:p>
            <a:pPr lvl="1"/>
            <a:r>
              <a:rPr lang="en-US" altLang="zh-CN" sz="2400" dirty="0" smtClean="0">
                <a:solidFill>
                  <a:srgbClr val="FF0000"/>
                </a:solidFill>
              </a:rPr>
              <a:t>A </a:t>
            </a:r>
            <a:r>
              <a:rPr lang="en-US" altLang="zh-CN" sz="2400" dirty="0">
                <a:solidFill>
                  <a:srgbClr val="FF0000"/>
                </a:solidFill>
              </a:rPr>
              <a:t>path </a:t>
            </a:r>
            <a:r>
              <a:rPr lang="en-US" altLang="zh-CN" sz="2400" dirty="0"/>
              <a:t>of minimum total weight between </a:t>
            </a:r>
            <a:r>
              <a:rPr lang="en-US" altLang="zh-CN" sz="2400" b="1" i="1" dirty="0" smtClean="0"/>
              <a:t>s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and </a:t>
            </a:r>
            <a:r>
              <a:rPr lang="en-US" altLang="zh-CN" sz="2400" b="1" i="1" dirty="0" smtClean="0"/>
              <a:t>t.</a:t>
            </a:r>
            <a:endParaRPr lang="en-US" altLang="zh-CN" sz="2400" b="1" i="1" dirty="0"/>
          </a:p>
          <a:p>
            <a:endParaRPr lang="en-US" altLang="zh-CN" sz="2800" b="1" dirty="0" smtClean="0"/>
          </a:p>
        </p:txBody>
      </p:sp>
      <p:sp>
        <p:nvSpPr>
          <p:cNvPr id="78" name="椭圆 77"/>
          <p:cNvSpPr/>
          <p:nvPr/>
        </p:nvSpPr>
        <p:spPr>
          <a:xfrm>
            <a:off x="3848220" y="2834691"/>
            <a:ext cx="435748" cy="418516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79" name="椭圆 78"/>
          <p:cNvSpPr/>
          <p:nvPr/>
        </p:nvSpPr>
        <p:spPr>
          <a:xfrm>
            <a:off x="2829845" y="2834691"/>
            <a:ext cx="416428" cy="407502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graphicFrame>
        <p:nvGraphicFramePr>
          <p:cNvPr id="80" name="对象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644175"/>
              </p:ext>
            </p:extLst>
          </p:nvPr>
        </p:nvGraphicFramePr>
        <p:xfrm>
          <a:off x="2881373" y="2847438"/>
          <a:ext cx="347279" cy="38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49" name="Equation" r:id="rId4" imgW="126720" imgH="139680" progId="Equation.DSMT4">
                  <p:embed/>
                </p:oleObj>
              </mc:Choice>
              <mc:Fallback>
                <p:oleObj name="Equation" r:id="rId4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1373" y="2847438"/>
                        <a:ext cx="347279" cy="382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521367"/>
              </p:ext>
            </p:extLst>
          </p:nvPr>
        </p:nvGraphicFramePr>
        <p:xfrm>
          <a:off x="3896163" y="2867745"/>
          <a:ext cx="331402" cy="405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0" name="Equation" r:id="rId6" imgW="114120" imgH="139680" progId="Equation.DSMT4">
                  <p:embed/>
                </p:oleObj>
              </mc:Choice>
              <mc:Fallback>
                <p:oleObj name="Equation" r:id="rId6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96163" y="2867745"/>
                        <a:ext cx="331402" cy="405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2" name="直接连接符 81"/>
          <p:cNvCxnSpPr/>
          <p:nvPr/>
        </p:nvCxnSpPr>
        <p:spPr>
          <a:xfrm>
            <a:off x="3250148" y="3030453"/>
            <a:ext cx="581914" cy="0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3355652" y="2636912"/>
            <a:ext cx="312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2</a:t>
            </a:r>
            <a:endParaRPr lang="zh-CN" altLang="en-US" sz="2400" b="1" dirty="0"/>
          </a:p>
        </p:txBody>
      </p:sp>
      <p:graphicFrame>
        <p:nvGraphicFramePr>
          <p:cNvPr id="84" name="对象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355735"/>
              </p:ext>
            </p:extLst>
          </p:nvPr>
        </p:nvGraphicFramePr>
        <p:xfrm>
          <a:off x="4738059" y="2800795"/>
          <a:ext cx="1634141" cy="484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1" name="Equation" r:id="rId8" imgW="685800" imgH="203040" progId="Equation.DSMT4">
                  <p:embed/>
                </p:oleObj>
              </mc:Choice>
              <mc:Fallback>
                <p:oleObj name="Equation" r:id="rId8" imgW="685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38059" y="2800795"/>
                        <a:ext cx="1634141" cy="4841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椭圆 97"/>
          <p:cNvSpPr/>
          <p:nvPr/>
        </p:nvSpPr>
        <p:spPr>
          <a:xfrm>
            <a:off x="4942303" y="1766764"/>
            <a:ext cx="435748" cy="418516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99" name="椭圆 98"/>
          <p:cNvSpPr/>
          <p:nvPr/>
        </p:nvSpPr>
        <p:spPr>
          <a:xfrm>
            <a:off x="3923928" y="1766764"/>
            <a:ext cx="416428" cy="407502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graphicFrame>
        <p:nvGraphicFramePr>
          <p:cNvPr id="100" name="对象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524279"/>
              </p:ext>
            </p:extLst>
          </p:nvPr>
        </p:nvGraphicFramePr>
        <p:xfrm>
          <a:off x="3975456" y="1779511"/>
          <a:ext cx="347279" cy="38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2" name="Equation" r:id="rId10" imgW="126720" imgH="139680" progId="Equation.DSMT4">
                  <p:embed/>
                </p:oleObj>
              </mc:Choice>
              <mc:Fallback>
                <p:oleObj name="Equation" r:id="rId10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75456" y="1779511"/>
                        <a:ext cx="347279" cy="382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对象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2641383"/>
              </p:ext>
            </p:extLst>
          </p:nvPr>
        </p:nvGraphicFramePr>
        <p:xfrm>
          <a:off x="4990246" y="1799818"/>
          <a:ext cx="331402" cy="405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3" name="Equation" r:id="rId11" imgW="114120" imgH="139680" progId="Equation.DSMT4">
                  <p:embed/>
                </p:oleObj>
              </mc:Choice>
              <mc:Fallback>
                <p:oleObj name="Equation" r:id="rId11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90246" y="1799818"/>
                        <a:ext cx="331402" cy="405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2" name="直接连接符 101"/>
          <p:cNvCxnSpPr/>
          <p:nvPr/>
        </p:nvCxnSpPr>
        <p:spPr>
          <a:xfrm>
            <a:off x="4344231" y="1962526"/>
            <a:ext cx="581914" cy="0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/>
          <p:cNvSpPr/>
          <p:nvPr/>
        </p:nvSpPr>
        <p:spPr>
          <a:xfrm>
            <a:off x="3142103" y="1766764"/>
            <a:ext cx="435748" cy="418516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sp>
        <p:nvSpPr>
          <p:cNvPr id="105" name="椭圆 104"/>
          <p:cNvSpPr/>
          <p:nvPr/>
        </p:nvSpPr>
        <p:spPr>
          <a:xfrm>
            <a:off x="2123728" y="1766764"/>
            <a:ext cx="416428" cy="407502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800" dirty="0"/>
          </a:p>
        </p:txBody>
      </p:sp>
      <p:graphicFrame>
        <p:nvGraphicFramePr>
          <p:cNvPr id="106" name="对象 105"/>
          <p:cNvGraphicFramePr>
            <a:graphicFrameLocks noChangeAspect="1"/>
          </p:cNvGraphicFramePr>
          <p:nvPr>
            <p:extLst/>
          </p:nvPr>
        </p:nvGraphicFramePr>
        <p:xfrm>
          <a:off x="2175256" y="1779511"/>
          <a:ext cx="347279" cy="382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4" name="Equation" r:id="rId12" imgW="126720" imgH="139680" progId="Equation.DSMT4">
                  <p:embed/>
                </p:oleObj>
              </mc:Choice>
              <mc:Fallback>
                <p:oleObj name="Equation" r:id="rId12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75256" y="1779511"/>
                        <a:ext cx="347279" cy="3820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/>
          <p:cNvGraphicFramePr>
            <a:graphicFrameLocks noChangeAspect="1"/>
          </p:cNvGraphicFramePr>
          <p:nvPr>
            <p:extLst/>
          </p:nvPr>
        </p:nvGraphicFramePr>
        <p:xfrm>
          <a:off x="3190046" y="1799818"/>
          <a:ext cx="331402" cy="405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5" name="Equation" r:id="rId13" imgW="114120" imgH="139680" progId="Equation.DSMT4">
                  <p:embed/>
                </p:oleObj>
              </mc:Choice>
              <mc:Fallback>
                <p:oleObj name="Equation" r:id="rId13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90046" y="1799818"/>
                        <a:ext cx="331402" cy="4050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8" name="直接连接符 107"/>
          <p:cNvCxnSpPr/>
          <p:nvPr/>
        </p:nvCxnSpPr>
        <p:spPr>
          <a:xfrm>
            <a:off x="2540156" y="1930265"/>
            <a:ext cx="581914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2560189" y="2002273"/>
            <a:ext cx="581914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1" name="对象 2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32067"/>
              </p:ext>
            </p:extLst>
          </p:nvPr>
        </p:nvGraphicFramePr>
        <p:xfrm>
          <a:off x="5721821" y="1720677"/>
          <a:ext cx="151447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6" name="Equation" r:id="rId14" imgW="634680" imgH="203040" progId="Equation.DSMT4">
                  <p:embed/>
                </p:oleObj>
              </mc:Choice>
              <mc:Fallback>
                <p:oleObj name="Equation" r:id="rId14" imgW="634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21821" y="1720677"/>
                        <a:ext cx="151447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3923928" y="4509120"/>
            <a:ext cx="253466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Path 1: </a:t>
            </a:r>
            <a:r>
              <a:rPr lang="en-US" altLang="zh-CN" sz="2400" b="1" i="1" dirty="0" smtClean="0">
                <a:latin typeface="+mj-lt"/>
              </a:rPr>
              <a:t>s </a:t>
            </a:r>
            <a:r>
              <a:rPr lang="zh-CN" altLang="en-US" sz="2400" dirty="0" smtClean="0">
                <a:latin typeface="+mj-lt"/>
              </a:rPr>
              <a:t>→ </a:t>
            </a:r>
            <a:r>
              <a:rPr lang="en-US" altLang="zh-CN" sz="2400" dirty="0" smtClean="0">
                <a:latin typeface="+mj-lt"/>
              </a:rPr>
              <a:t>B → </a:t>
            </a:r>
            <a:r>
              <a:rPr lang="en-US" altLang="zh-CN" sz="2400" b="1" i="1" dirty="0" smtClean="0">
                <a:latin typeface="+mj-lt"/>
              </a:rPr>
              <a:t>t</a:t>
            </a:r>
            <a:r>
              <a:rPr lang="zh-CN" altLang="en-US" sz="2400" dirty="0" smtClean="0">
                <a:latin typeface="+mj-lt"/>
              </a:rPr>
              <a:t> </a:t>
            </a:r>
            <a:endParaRPr lang="zh-CN" altLang="en-US" sz="2400" dirty="0">
              <a:latin typeface="+mj-lt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923928" y="5012603"/>
            <a:ext cx="3244799" cy="46166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Path 2: </a:t>
            </a:r>
            <a:r>
              <a:rPr lang="en-US" altLang="zh-CN" sz="2400" b="1" i="1" dirty="0" smtClean="0">
                <a:latin typeface="+mj-lt"/>
              </a:rPr>
              <a:t>s</a:t>
            </a:r>
            <a:r>
              <a:rPr lang="en-US" altLang="zh-CN" sz="2400" i="1" dirty="0" smtClean="0">
                <a:latin typeface="+mj-lt"/>
              </a:rPr>
              <a:t> </a:t>
            </a:r>
            <a:r>
              <a:rPr lang="zh-CN" altLang="en-US" sz="2400" dirty="0" smtClean="0">
                <a:latin typeface="+mj-lt"/>
              </a:rPr>
              <a:t>→ </a:t>
            </a:r>
            <a:r>
              <a:rPr lang="en-US" altLang="zh-CN" sz="2400" dirty="0" smtClean="0">
                <a:latin typeface="+mj-lt"/>
              </a:rPr>
              <a:t>B → C</a:t>
            </a:r>
            <a:r>
              <a:rPr lang="zh-CN" altLang="en-US" sz="2400" dirty="0" smtClean="0">
                <a:latin typeface="+mj-lt"/>
              </a:rPr>
              <a:t> → </a:t>
            </a:r>
            <a:r>
              <a:rPr lang="en-US" altLang="zh-CN" sz="2400" b="1" i="1" dirty="0" smtClean="0">
                <a:latin typeface="+mj-lt"/>
              </a:rPr>
              <a:t>t</a:t>
            </a:r>
            <a:endParaRPr lang="zh-CN" altLang="en-US" sz="2400" b="1" i="1" dirty="0">
              <a:latin typeface="+mj-lt"/>
            </a:endParaRPr>
          </a:p>
        </p:txBody>
      </p:sp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779222"/>
              </p:ext>
            </p:extLst>
          </p:nvPr>
        </p:nvGraphicFramePr>
        <p:xfrm>
          <a:off x="7608888" y="4510239"/>
          <a:ext cx="10731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7" name="Equation" r:id="rId16" imgW="571320" imgH="203040" progId="Equation.DSMT4">
                  <p:embed/>
                </p:oleObj>
              </mc:Choice>
              <mc:Fallback>
                <p:oleObj name="Equation" r:id="rId16" imgW="5713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608888" y="4510239"/>
                        <a:ext cx="10731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516209"/>
              </p:ext>
            </p:extLst>
          </p:nvPr>
        </p:nvGraphicFramePr>
        <p:xfrm>
          <a:off x="7613650" y="5035702"/>
          <a:ext cx="9540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58" name="Equation" r:id="rId18" imgW="507960" imgH="203040" progId="Equation.DSMT4">
                  <p:embed/>
                </p:oleObj>
              </mc:Choice>
              <mc:Fallback>
                <p:oleObj name="Equation" r:id="rId18" imgW="507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613650" y="5035702"/>
                        <a:ext cx="954088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肘形连接符 50"/>
          <p:cNvCxnSpPr/>
          <p:nvPr/>
        </p:nvCxnSpPr>
        <p:spPr>
          <a:xfrm rot="16200000" flipH="1">
            <a:off x="4331160" y="5371394"/>
            <a:ext cx="354067" cy="59246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4869546" y="5544664"/>
            <a:ext cx="3345788" cy="4616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altLang="zh-CN" sz="2400" dirty="0" smtClean="0">
                <a:solidFill>
                  <a:srgbClr val="FF0000"/>
                </a:solidFill>
                <a:latin typeface="+mj-lt"/>
              </a:rPr>
              <a:t>Shortest Path from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+mj-lt"/>
              </a:rPr>
              <a:t>s</a:t>
            </a:r>
            <a:r>
              <a:rPr lang="en-US" altLang="zh-CN" sz="2400" dirty="0" smtClean="0">
                <a:solidFill>
                  <a:srgbClr val="FF0000"/>
                </a:solidFill>
                <a:latin typeface="+mj-lt"/>
              </a:rPr>
              <a:t> to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+mj-lt"/>
              </a:rPr>
              <a:t>t </a:t>
            </a:r>
            <a:r>
              <a:rPr lang="en-US" altLang="zh-CN" sz="2400" dirty="0" smtClean="0">
                <a:solidFill>
                  <a:srgbClr val="FF0000"/>
                </a:solidFill>
                <a:latin typeface="+mj-lt"/>
              </a:rPr>
              <a:t>!</a:t>
            </a:r>
            <a:endParaRPr lang="zh-CN" alt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329587" y="5040093"/>
            <a:ext cx="532546" cy="500545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i="1" dirty="0" smtClean="0">
                <a:solidFill>
                  <a:schemeClr val="tx1"/>
                </a:solidFill>
              </a:rPr>
              <a:t>s</a:t>
            </a:r>
            <a:endParaRPr lang="zh-CN" altLang="en-US" sz="3600" b="1" i="1" dirty="0">
              <a:solidFill>
                <a:schemeClr val="tx1"/>
              </a:solidFill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1126941" y="5598827"/>
            <a:ext cx="459052" cy="435567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dirty="0" smtClean="0"/>
              <a:t>A</a:t>
            </a:r>
            <a:endParaRPr lang="zh-CN" altLang="en-US" sz="2800" dirty="0"/>
          </a:p>
        </p:txBody>
      </p:sp>
      <p:sp>
        <p:nvSpPr>
          <p:cNvPr id="55" name="椭圆 54"/>
          <p:cNvSpPr/>
          <p:nvPr/>
        </p:nvSpPr>
        <p:spPr>
          <a:xfrm>
            <a:off x="3293078" y="5284841"/>
            <a:ext cx="436949" cy="433442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852701" y="4825961"/>
            <a:ext cx="1016538" cy="36965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2294722" y="4872167"/>
            <a:ext cx="1030014" cy="506986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765422" y="5488251"/>
            <a:ext cx="374784" cy="251567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2628434" y="5606976"/>
            <a:ext cx="673841" cy="21498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endCxn id="68" idx="2"/>
          </p:cNvCxnSpPr>
          <p:nvPr/>
        </p:nvCxnSpPr>
        <p:spPr>
          <a:xfrm>
            <a:off x="1581733" y="5857901"/>
            <a:ext cx="607259" cy="39453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162"/>
          <p:cNvSpPr txBox="1"/>
          <p:nvPr/>
        </p:nvSpPr>
        <p:spPr>
          <a:xfrm>
            <a:off x="1253285" y="4509120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2</a:t>
            </a:r>
            <a:endParaRPr lang="zh-CN" altLang="en-US" sz="2000" b="1" dirty="0"/>
          </a:p>
        </p:txBody>
      </p:sp>
      <p:sp>
        <p:nvSpPr>
          <p:cNvPr id="62" name="文本框 163"/>
          <p:cNvSpPr txBox="1"/>
          <p:nvPr/>
        </p:nvSpPr>
        <p:spPr>
          <a:xfrm>
            <a:off x="2712991" y="4813063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9</a:t>
            </a:r>
            <a:endParaRPr lang="zh-CN" altLang="en-US" sz="2000" b="1" dirty="0"/>
          </a:p>
        </p:txBody>
      </p:sp>
      <p:sp>
        <p:nvSpPr>
          <p:cNvPr id="63" name="文本框 164"/>
          <p:cNvSpPr txBox="1"/>
          <p:nvPr/>
        </p:nvSpPr>
        <p:spPr>
          <a:xfrm>
            <a:off x="683074" y="5578507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5</a:t>
            </a:r>
            <a:endParaRPr lang="zh-CN" altLang="en-US" sz="2000" b="1" dirty="0"/>
          </a:p>
        </p:txBody>
      </p:sp>
      <p:sp>
        <p:nvSpPr>
          <p:cNvPr id="64" name="文本框 165"/>
          <p:cNvSpPr txBox="1"/>
          <p:nvPr/>
        </p:nvSpPr>
        <p:spPr>
          <a:xfrm>
            <a:off x="1701068" y="5831897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4</a:t>
            </a:r>
            <a:endParaRPr lang="zh-CN" altLang="en-US" sz="2000" b="1" dirty="0"/>
          </a:p>
        </p:txBody>
      </p:sp>
      <p:sp>
        <p:nvSpPr>
          <p:cNvPr id="65" name="文本框 166"/>
          <p:cNvSpPr txBox="1"/>
          <p:nvPr/>
        </p:nvSpPr>
        <p:spPr>
          <a:xfrm>
            <a:off x="2907055" y="5637833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2</a:t>
            </a:r>
            <a:endParaRPr lang="zh-CN" altLang="en-US" sz="2000" b="1" dirty="0"/>
          </a:p>
        </p:txBody>
      </p:sp>
      <p:cxnSp>
        <p:nvCxnSpPr>
          <p:cNvPr id="66" name="直接连接符 65"/>
          <p:cNvCxnSpPr/>
          <p:nvPr/>
        </p:nvCxnSpPr>
        <p:spPr>
          <a:xfrm>
            <a:off x="2147119" y="4984475"/>
            <a:ext cx="208570" cy="70592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168"/>
          <p:cNvSpPr txBox="1"/>
          <p:nvPr/>
        </p:nvSpPr>
        <p:spPr>
          <a:xfrm>
            <a:off x="2182748" y="5040093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1</a:t>
            </a:r>
            <a:endParaRPr lang="zh-CN" altLang="en-US" sz="2000" b="1" dirty="0"/>
          </a:p>
        </p:txBody>
      </p:sp>
      <p:sp>
        <p:nvSpPr>
          <p:cNvPr id="68" name="椭圆 67"/>
          <p:cNvSpPr/>
          <p:nvPr/>
        </p:nvSpPr>
        <p:spPr>
          <a:xfrm>
            <a:off x="2188993" y="5668680"/>
            <a:ext cx="457349" cy="457349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dirty="0" smtClean="0"/>
              <a:t>C</a:t>
            </a:r>
            <a:endParaRPr lang="zh-CN" altLang="en-US" sz="2800" dirty="0"/>
          </a:p>
        </p:txBody>
      </p:sp>
      <p:sp>
        <p:nvSpPr>
          <p:cNvPr id="69" name="椭圆 68"/>
          <p:cNvSpPr/>
          <p:nvPr/>
        </p:nvSpPr>
        <p:spPr>
          <a:xfrm>
            <a:off x="1853912" y="4540148"/>
            <a:ext cx="466972" cy="466972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dirty="0" smtClean="0"/>
              <a:t>B</a:t>
            </a:r>
            <a:endParaRPr lang="zh-CN" altLang="en-US" sz="2800" dirty="0"/>
          </a:p>
        </p:txBody>
      </p:sp>
      <p:cxnSp>
        <p:nvCxnSpPr>
          <p:cNvPr id="70" name="直接连接符 69"/>
          <p:cNvCxnSpPr/>
          <p:nvPr/>
        </p:nvCxnSpPr>
        <p:spPr>
          <a:xfrm flipH="1">
            <a:off x="1458518" y="4954312"/>
            <a:ext cx="498000" cy="657156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192"/>
          <p:cNvSpPr txBox="1"/>
          <p:nvPr/>
        </p:nvSpPr>
        <p:spPr>
          <a:xfrm>
            <a:off x="1340908" y="5104300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2</a:t>
            </a:r>
            <a:endParaRPr lang="zh-CN" altLang="en-US" sz="20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4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978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495867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604448" y="203481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from </a:t>
            </a:r>
            <a:r>
              <a:rPr lang="en-US" altLang="zh-CN" i="1" dirty="0" smtClean="0"/>
              <a:t>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5" name="文本框 164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2608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+mj-lt"/>
              </a:rPr>
              <a:t>#1 Initialization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43" name="矩形 242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245" name="矩形 244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46" name="矩形 245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247" name="矩形 246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248" name="矩形 247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49" name="直接连接符 248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矩形 250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2" name="矩形 251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3" name="矩形 252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4" name="矩形 253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5" name="矩形 254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cxnSp>
        <p:nvCxnSpPr>
          <p:cNvPr id="269" name="直接连接符 268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5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3112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" grpId="0" animBg="1"/>
      <p:bldP spid="238" grpId="0" animBg="1"/>
      <p:bldP spid="239" grpId="0" animBg="1"/>
      <p:bldP spid="240" grpId="0" animBg="1"/>
      <p:bldP spid="241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51" grpId="0" animBg="1"/>
      <p:bldP spid="252" grpId="0" animBg="1"/>
      <p:bldP spid="253" grpId="0" animBg="1"/>
      <p:bldP spid="254" grpId="0" animBg="1"/>
      <p:bldP spid="2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495867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604448" y="203481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</a:t>
            </a:r>
            <a:r>
              <a:rPr lang="en-US" altLang="zh-CN" i="1" dirty="0" smtClean="0"/>
              <a:t>from 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5" name="文本框 164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5732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+mj-lt"/>
              </a:rPr>
              <a:t>#2 Path finding – </a:t>
            </a:r>
            <a:r>
              <a:rPr lang="en-US" altLang="zh-CN" sz="2400" b="1" dirty="0" smtClean="0">
                <a:latin typeface="+mj-lt"/>
              </a:rPr>
              <a:t>Find the min distance</a:t>
            </a:r>
            <a:endParaRPr lang="zh-CN" altLang="en-US" sz="2400" b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43" name="矩形 242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245" name="矩形 244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46" name="矩形 245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247" name="矩形 246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248" name="矩形 247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49" name="直接连接符 248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矩形 250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2" name="矩形 251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3" name="矩形 252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4" name="矩形 253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5" name="矩形 254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79512" y="1584990"/>
            <a:ext cx="3493264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i="1" dirty="0" smtClean="0">
                <a:solidFill>
                  <a:srgbClr val="000000"/>
                </a:solidFill>
                <a:latin typeface="Times New Roman"/>
                <a:ea typeface="宋体"/>
              </a:rPr>
              <a:t>s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← 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mindistance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Q,d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sz="2800" dirty="0">
                <a:solidFill>
                  <a:srgbClr val="008000"/>
                </a:solidFill>
                <a:latin typeface="Times New Roman"/>
                <a:ea typeface="宋体"/>
              </a:rPr>
              <a:t> </a:t>
            </a:r>
            <a:endParaRPr lang="zh-CN" altLang="en-US" sz="2800" dirty="0"/>
          </a:p>
        </p:txBody>
      </p:sp>
      <p:cxnSp>
        <p:nvCxnSpPr>
          <p:cNvPr id="65" name="直接连接符 64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6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16809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5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495867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604448" y="2034819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</a:t>
            </a:r>
            <a:r>
              <a:rPr lang="en-US" altLang="zh-CN" i="1" dirty="0" smtClean="0"/>
              <a:t>from 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652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+mj-lt"/>
              </a:rPr>
              <a:t>#2 Path finding – </a:t>
            </a:r>
            <a:r>
              <a:rPr lang="en-US" altLang="zh-CN" sz="2400" b="1" dirty="0" smtClean="0">
                <a:latin typeface="+mj-lt"/>
              </a:rPr>
              <a:t>update the shortest distance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43" name="矩形 242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4" name="矩形 243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245" name="矩形 244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46" name="矩形 245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247" name="矩形 246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248" name="矩形 247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49" name="直接连接符 248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矩形 250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2" name="矩形 251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253" name="矩形 252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254" name="矩形 253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5" name="矩形 254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79512" y="1584990"/>
            <a:ext cx="3432350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d[v]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← d[u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] + w(u, v) </a:t>
            </a:r>
            <a:endParaRPr lang="zh-CN" altLang="en-US" sz="2800" dirty="0"/>
          </a:p>
        </p:txBody>
      </p:sp>
      <p:sp>
        <p:nvSpPr>
          <p:cNvPr id="66" name="矩形 65"/>
          <p:cNvSpPr/>
          <p:nvPr/>
        </p:nvSpPr>
        <p:spPr>
          <a:xfrm>
            <a:off x="158286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5</a:t>
            </a:r>
            <a:endParaRPr lang="zh-CN" altLang="en-US" sz="3600" dirty="0"/>
          </a:p>
        </p:txBody>
      </p:sp>
      <p:sp>
        <p:nvSpPr>
          <p:cNvPr id="67" name="矩形 66"/>
          <p:cNvSpPr/>
          <p:nvPr/>
        </p:nvSpPr>
        <p:spPr>
          <a:xfrm>
            <a:off x="237495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2</a:t>
            </a:r>
            <a:endParaRPr lang="zh-CN" altLang="en-US" sz="3600" dirty="0"/>
          </a:p>
        </p:txBody>
      </p:sp>
      <p:sp>
        <p:nvSpPr>
          <p:cNvPr id="68" name="矩形 67"/>
          <p:cNvSpPr/>
          <p:nvPr/>
        </p:nvSpPr>
        <p:spPr>
          <a:xfrm>
            <a:off x="309503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69" name="矩形 68"/>
          <p:cNvSpPr/>
          <p:nvPr/>
        </p:nvSpPr>
        <p:spPr>
          <a:xfrm>
            <a:off x="374310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72" name="矩形 71"/>
          <p:cNvSpPr/>
          <p:nvPr/>
        </p:nvSpPr>
        <p:spPr>
          <a:xfrm>
            <a:off x="6256816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73" name="矩形 72"/>
          <p:cNvSpPr/>
          <p:nvPr/>
        </p:nvSpPr>
        <p:spPr>
          <a:xfrm>
            <a:off x="7048904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cxnSp>
        <p:nvCxnSpPr>
          <p:cNvPr id="74" name="直接连接符 73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7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75362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5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495867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604448" y="2034819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FF0000"/>
                </a:solidFill>
              </a:rPr>
              <a:t>∞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from </a:t>
            </a:r>
            <a:r>
              <a:rPr lang="en-US" altLang="zh-CN" i="1" dirty="0" smtClean="0"/>
              <a:t>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6712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 smtClean="0">
                <a:latin typeface="+mj-lt"/>
              </a:rPr>
              <a:t>#2 Path finding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</a:rPr>
              <a:t>Find the min-distance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8286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5</a:t>
            </a:r>
            <a:endParaRPr lang="zh-CN" altLang="en-US" sz="3600" dirty="0"/>
          </a:p>
        </p:txBody>
      </p:sp>
      <p:sp>
        <p:nvSpPr>
          <p:cNvPr id="67" name="矩形 66"/>
          <p:cNvSpPr/>
          <p:nvPr/>
        </p:nvSpPr>
        <p:spPr>
          <a:xfrm>
            <a:off x="2374954" y="3419354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2</a:t>
            </a:r>
            <a:endParaRPr lang="zh-CN" altLang="en-US" sz="3600" dirty="0"/>
          </a:p>
        </p:txBody>
      </p:sp>
      <p:sp>
        <p:nvSpPr>
          <p:cNvPr id="68" name="矩形 67"/>
          <p:cNvSpPr/>
          <p:nvPr/>
        </p:nvSpPr>
        <p:spPr>
          <a:xfrm>
            <a:off x="309503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69" name="矩形 68"/>
          <p:cNvSpPr/>
          <p:nvPr/>
        </p:nvSpPr>
        <p:spPr>
          <a:xfrm>
            <a:off x="374310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64" name="矩形 63"/>
          <p:cNvSpPr/>
          <p:nvPr/>
        </p:nvSpPr>
        <p:spPr>
          <a:xfrm>
            <a:off x="179512" y="1584990"/>
            <a:ext cx="3552576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← 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mindistance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Q,d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sz="2800" dirty="0">
                <a:solidFill>
                  <a:srgbClr val="008000"/>
                </a:solidFill>
                <a:latin typeface="Times New Roman"/>
                <a:ea typeface="宋体"/>
              </a:rPr>
              <a:t> </a:t>
            </a:r>
            <a:endParaRPr lang="zh-CN" altLang="en-US" sz="2800" dirty="0"/>
          </a:p>
        </p:txBody>
      </p:sp>
      <p:cxnSp>
        <p:nvCxnSpPr>
          <p:cNvPr id="99" name="直接连接符 98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 115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118" name="矩形 117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19" name="矩形 118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20" name="矩形 119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21" name="矩形 120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122" name="直接连接符 121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25" name="矩形 124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26" name="矩形 125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27" name="矩形 126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28" name="矩形 127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29" name="矩形 128"/>
          <p:cNvSpPr/>
          <p:nvPr/>
        </p:nvSpPr>
        <p:spPr>
          <a:xfrm>
            <a:off x="6256816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130" name="矩形 129"/>
          <p:cNvSpPr/>
          <p:nvPr/>
        </p:nvSpPr>
        <p:spPr>
          <a:xfrm>
            <a:off x="7048904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8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3053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4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56787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3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460432" y="2034819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11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from </a:t>
            </a:r>
            <a:r>
              <a:rPr lang="en-US" altLang="zh-CN" i="1" dirty="0" smtClean="0"/>
              <a:t>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6989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b="1" i="1" dirty="0" smtClean="0">
                <a:latin typeface="+mj-lt"/>
              </a:rPr>
              <a:t>#2 Path finding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</a:rPr>
              <a:t>update the shortest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</a:rPr>
              <a:t>distance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8286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5</a:t>
            </a:r>
            <a:endParaRPr lang="zh-CN" altLang="en-US" sz="3600" strike="sngStrike" dirty="0"/>
          </a:p>
        </p:txBody>
      </p:sp>
      <p:sp>
        <p:nvSpPr>
          <p:cNvPr id="67" name="矩形 66"/>
          <p:cNvSpPr/>
          <p:nvPr/>
        </p:nvSpPr>
        <p:spPr>
          <a:xfrm>
            <a:off x="2374954" y="3419354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2</a:t>
            </a:r>
            <a:endParaRPr lang="zh-CN" altLang="en-US" sz="3600" dirty="0"/>
          </a:p>
        </p:txBody>
      </p:sp>
      <p:sp>
        <p:nvSpPr>
          <p:cNvPr id="68" name="矩形 67"/>
          <p:cNvSpPr/>
          <p:nvPr/>
        </p:nvSpPr>
        <p:spPr>
          <a:xfrm>
            <a:off x="309503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69" name="矩形 68"/>
          <p:cNvSpPr/>
          <p:nvPr/>
        </p:nvSpPr>
        <p:spPr>
          <a:xfrm>
            <a:off x="374310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70" name="矩形 69"/>
          <p:cNvSpPr/>
          <p:nvPr/>
        </p:nvSpPr>
        <p:spPr>
          <a:xfrm>
            <a:off x="179512" y="1584990"/>
            <a:ext cx="3432350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d[v]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← d[u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] + w(u, v) </a:t>
            </a:r>
            <a:endParaRPr lang="zh-CN" altLang="en-US" sz="2800" dirty="0"/>
          </a:p>
        </p:txBody>
      </p:sp>
      <p:sp>
        <p:nvSpPr>
          <p:cNvPr id="72" name="矩形 71"/>
          <p:cNvSpPr/>
          <p:nvPr/>
        </p:nvSpPr>
        <p:spPr>
          <a:xfrm>
            <a:off x="5436096" y="3488364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5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560696" y="392855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74" name="矩形 73"/>
          <p:cNvSpPr/>
          <p:nvPr/>
        </p:nvSpPr>
        <p:spPr>
          <a:xfrm>
            <a:off x="3072864" y="392855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3</a:t>
            </a:r>
            <a:endParaRPr lang="zh-CN" altLang="en-US" sz="3600" dirty="0"/>
          </a:p>
        </p:txBody>
      </p:sp>
      <p:sp>
        <p:nvSpPr>
          <p:cNvPr id="75" name="矩形 74"/>
          <p:cNvSpPr/>
          <p:nvPr/>
        </p:nvSpPr>
        <p:spPr>
          <a:xfrm>
            <a:off x="3635896" y="3928551"/>
            <a:ext cx="76217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11</a:t>
            </a:r>
            <a:endParaRPr lang="zh-CN" altLang="en-US" sz="3600" b="1" i="1" dirty="0"/>
          </a:p>
        </p:txBody>
      </p:sp>
      <p:cxnSp>
        <p:nvCxnSpPr>
          <p:cNvPr id="93" name="直接连接符 92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矩形 94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97" name="矩形 96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98" name="矩形 97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99" name="矩形 98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00" name="矩形 99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101" name="直接连接符 100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04" name="矩形 103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05" name="矩形 104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06" name="矩形 105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07" name="矩形 106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08" name="矩形 107"/>
          <p:cNvSpPr/>
          <p:nvPr/>
        </p:nvSpPr>
        <p:spPr>
          <a:xfrm>
            <a:off x="6256816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/>
              <a:t>s</a:t>
            </a:r>
            <a:endParaRPr lang="zh-CN" altLang="en-US" sz="3600" b="1" i="1" strike="sngStrike" dirty="0"/>
          </a:p>
        </p:txBody>
      </p:sp>
      <p:sp>
        <p:nvSpPr>
          <p:cNvPr id="109" name="矩形 108"/>
          <p:cNvSpPr/>
          <p:nvPr/>
        </p:nvSpPr>
        <p:spPr>
          <a:xfrm>
            <a:off x="7048904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110" name="矩形 109"/>
          <p:cNvSpPr/>
          <p:nvPr/>
        </p:nvSpPr>
        <p:spPr>
          <a:xfrm>
            <a:off x="6264229" y="574520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12" name="矩形 111"/>
          <p:cNvSpPr/>
          <p:nvPr/>
        </p:nvSpPr>
        <p:spPr>
          <a:xfrm>
            <a:off x="8469285" y="5733256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13" name="矩形 112"/>
          <p:cNvSpPr/>
          <p:nvPr/>
        </p:nvSpPr>
        <p:spPr>
          <a:xfrm>
            <a:off x="7812360" y="5737600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14" name="矩形 113"/>
          <p:cNvSpPr/>
          <p:nvPr/>
        </p:nvSpPr>
        <p:spPr>
          <a:xfrm>
            <a:off x="8511823" y="572297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9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722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5436096" y="348836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5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4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56787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3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460432" y="2034819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11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from </a:t>
            </a:r>
            <a:r>
              <a:rPr lang="en-US" altLang="zh-CN" i="1" dirty="0" smtClean="0"/>
              <a:t>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6989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b="1" i="1" dirty="0" smtClean="0">
                <a:latin typeface="+mj-lt"/>
              </a:rPr>
              <a:t>#2 Path finding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</a:rPr>
              <a:t>Find the min distance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C</a:t>
            </a:r>
            <a:endParaRPr lang="zh-CN" altLang="en-US" sz="3600" strike="sngStrike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8286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5</a:t>
            </a:r>
            <a:endParaRPr lang="zh-CN" altLang="en-US" sz="3600" strike="sngStrike" dirty="0"/>
          </a:p>
        </p:txBody>
      </p:sp>
      <p:sp>
        <p:nvSpPr>
          <p:cNvPr id="67" name="矩形 66"/>
          <p:cNvSpPr/>
          <p:nvPr/>
        </p:nvSpPr>
        <p:spPr>
          <a:xfrm>
            <a:off x="2374954" y="3419354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2</a:t>
            </a:r>
            <a:endParaRPr lang="zh-CN" altLang="en-US" sz="3600" dirty="0"/>
          </a:p>
        </p:txBody>
      </p:sp>
      <p:sp>
        <p:nvSpPr>
          <p:cNvPr id="68" name="矩形 67"/>
          <p:cNvSpPr/>
          <p:nvPr/>
        </p:nvSpPr>
        <p:spPr>
          <a:xfrm>
            <a:off x="309503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69" name="矩形 68"/>
          <p:cNvSpPr/>
          <p:nvPr/>
        </p:nvSpPr>
        <p:spPr>
          <a:xfrm>
            <a:off x="374310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73" name="矩形 72"/>
          <p:cNvSpPr/>
          <p:nvPr/>
        </p:nvSpPr>
        <p:spPr>
          <a:xfrm>
            <a:off x="1560696" y="392855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74" name="矩形 73"/>
          <p:cNvSpPr/>
          <p:nvPr/>
        </p:nvSpPr>
        <p:spPr>
          <a:xfrm>
            <a:off x="3072864" y="3928551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3</a:t>
            </a:r>
            <a:endParaRPr lang="zh-CN" altLang="en-US" sz="3600" dirty="0"/>
          </a:p>
        </p:txBody>
      </p:sp>
      <p:sp>
        <p:nvSpPr>
          <p:cNvPr id="75" name="矩形 74"/>
          <p:cNvSpPr/>
          <p:nvPr/>
        </p:nvSpPr>
        <p:spPr>
          <a:xfrm>
            <a:off x="3635896" y="3928551"/>
            <a:ext cx="76217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11</a:t>
            </a:r>
            <a:endParaRPr lang="zh-CN" altLang="en-US" sz="3600" b="1" i="1" dirty="0"/>
          </a:p>
        </p:txBody>
      </p:sp>
      <p:sp>
        <p:nvSpPr>
          <p:cNvPr id="77" name="矩形 76"/>
          <p:cNvSpPr/>
          <p:nvPr/>
        </p:nvSpPr>
        <p:spPr>
          <a:xfrm>
            <a:off x="179512" y="1584990"/>
            <a:ext cx="3552576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00"/>
                </a:solidFill>
                <a:latin typeface="Times New Roman"/>
                <a:ea typeface="宋体"/>
              </a:rPr>
              <a:t>C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← 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mindistance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Q,d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sz="2800" dirty="0">
                <a:solidFill>
                  <a:srgbClr val="008000"/>
                </a:solidFill>
                <a:latin typeface="Times New Roman"/>
                <a:ea typeface="宋体"/>
              </a:rPr>
              <a:t> </a:t>
            </a:r>
            <a:endParaRPr lang="zh-CN" altLang="en-US" sz="2800" dirty="0"/>
          </a:p>
        </p:txBody>
      </p:sp>
      <p:cxnSp>
        <p:nvCxnSpPr>
          <p:cNvPr id="79" name="直接连接符 78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119" name="矩形 118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20" name="矩形 119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21" name="矩形 120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22" name="矩形 121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123" name="直接连接符 122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26" name="矩形 125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27" name="矩形 126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28" name="矩形 127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29" name="矩形 128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30" name="矩形 129"/>
          <p:cNvSpPr/>
          <p:nvPr/>
        </p:nvSpPr>
        <p:spPr>
          <a:xfrm>
            <a:off x="6256816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/>
              <a:t>s</a:t>
            </a:r>
            <a:endParaRPr lang="zh-CN" altLang="en-US" sz="3600" b="1" i="1" strike="sngStrike" dirty="0"/>
          </a:p>
        </p:txBody>
      </p:sp>
      <p:sp>
        <p:nvSpPr>
          <p:cNvPr id="131" name="矩形 130"/>
          <p:cNvSpPr/>
          <p:nvPr/>
        </p:nvSpPr>
        <p:spPr>
          <a:xfrm>
            <a:off x="7048904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132" name="矩形 131"/>
          <p:cNvSpPr/>
          <p:nvPr/>
        </p:nvSpPr>
        <p:spPr>
          <a:xfrm>
            <a:off x="6264229" y="574520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33" name="矩形 132"/>
          <p:cNvSpPr/>
          <p:nvPr/>
        </p:nvSpPr>
        <p:spPr>
          <a:xfrm>
            <a:off x="8469285" y="5733256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34" name="矩形 133"/>
          <p:cNvSpPr/>
          <p:nvPr/>
        </p:nvSpPr>
        <p:spPr>
          <a:xfrm>
            <a:off x="7812360" y="5737600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35" name="矩形 134"/>
          <p:cNvSpPr/>
          <p:nvPr/>
        </p:nvSpPr>
        <p:spPr>
          <a:xfrm>
            <a:off x="8511823" y="572297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10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9269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5436096" y="348836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5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4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56787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3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460432" y="2034819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11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from </a:t>
            </a:r>
            <a:r>
              <a:rPr lang="en-US" altLang="zh-CN" i="1" dirty="0" smtClean="0"/>
              <a:t>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6989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b="1" i="1" dirty="0" smtClean="0">
                <a:latin typeface="+mj-lt"/>
              </a:rPr>
              <a:t>#2 Path finding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</a:rPr>
              <a:t>update the shortest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</a:rPr>
              <a:t>distance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C</a:t>
            </a:r>
            <a:endParaRPr lang="zh-CN" altLang="en-US" sz="3600" strike="sngStrike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8286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5</a:t>
            </a:r>
            <a:endParaRPr lang="zh-CN" altLang="en-US" sz="3600" strike="sngStrike" dirty="0"/>
          </a:p>
        </p:txBody>
      </p:sp>
      <p:sp>
        <p:nvSpPr>
          <p:cNvPr id="67" name="矩形 66"/>
          <p:cNvSpPr/>
          <p:nvPr/>
        </p:nvSpPr>
        <p:spPr>
          <a:xfrm>
            <a:off x="2374954" y="3419354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2</a:t>
            </a:r>
            <a:endParaRPr lang="zh-CN" altLang="en-US" sz="3600" dirty="0"/>
          </a:p>
        </p:txBody>
      </p:sp>
      <p:sp>
        <p:nvSpPr>
          <p:cNvPr id="68" name="矩形 67"/>
          <p:cNvSpPr/>
          <p:nvPr/>
        </p:nvSpPr>
        <p:spPr>
          <a:xfrm>
            <a:off x="309503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69" name="矩形 68"/>
          <p:cNvSpPr/>
          <p:nvPr/>
        </p:nvSpPr>
        <p:spPr>
          <a:xfrm>
            <a:off x="374310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70" name="矩形 69"/>
          <p:cNvSpPr/>
          <p:nvPr/>
        </p:nvSpPr>
        <p:spPr>
          <a:xfrm>
            <a:off x="179512" y="1584990"/>
            <a:ext cx="3432350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d[v]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← d[u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] + w(u, v) </a:t>
            </a:r>
            <a:endParaRPr lang="zh-CN" altLang="en-US" sz="2800" dirty="0"/>
          </a:p>
        </p:txBody>
      </p:sp>
      <p:sp>
        <p:nvSpPr>
          <p:cNvPr id="73" name="矩形 72"/>
          <p:cNvSpPr/>
          <p:nvPr/>
        </p:nvSpPr>
        <p:spPr>
          <a:xfrm>
            <a:off x="1560696" y="3928551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74" name="矩形 73"/>
          <p:cNvSpPr/>
          <p:nvPr/>
        </p:nvSpPr>
        <p:spPr>
          <a:xfrm>
            <a:off x="3072864" y="3928551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3</a:t>
            </a:r>
            <a:endParaRPr lang="zh-CN" altLang="en-US" sz="3600" dirty="0"/>
          </a:p>
        </p:txBody>
      </p:sp>
      <p:sp>
        <p:nvSpPr>
          <p:cNvPr id="75" name="矩形 74"/>
          <p:cNvSpPr/>
          <p:nvPr/>
        </p:nvSpPr>
        <p:spPr>
          <a:xfrm>
            <a:off x="3635896" y="3928551"/>
            <a:ext cx="76217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000000"/>
                </a:solidFill>
              </a:rPr>
              <a:t>11</a:t>
            </a:r>
            <a:endParaRPr lang="zh-CN" altLang="en-US" sz="3600" b="1" i="1" strike="sngStrike" dirty="0"/>
          </a:p>
        </p:txBody>
      </p:sp>
      <p:sp>
        <p:nvSpPr>
          <p:cNvPr id="77" name="矩形 76"/>
          <p:cNvSpPr/>
          <p:nvPr/>
        </p:nvSpPr>
        <p:spPr>
          <a:xfrm>
            <a:off x="8460432" y="1592001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5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627881" y="4455990"/>
            <a:ext cx="76217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5</a:t>
            </a:r>
            <a:endParaRPr lang="zh-CN" altLang="en-US" sz="3600" b="1" i="1" dirty="0"/>
          </a:p>
        </p:txBody>
      </p:sp>
      <p:sp>
        <p:nvSpPr>
          <p:cNvPr id="79" name="矩形 78"/>
          <p:cNvSpPr/>
          <p:nvPr/>
        </p:nvSpPr>
        <p:spPr>
          <a:xfrm>
            <a:off x="1547664" y="4469909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cxnSp>
        <p:nvCxnSpPr>
          <p:cNvPr id="86" name="直接连接符 85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矩形 143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146" name="矩形 145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47" name="矩形 146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48" name="矩形 147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49" name="矩形 148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150" name="直接连接符 149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53" name="矩形 152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54" name="矩形 153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65" name="矩形 164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70" name="矩形 169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71" name="矩形 170"/>
          <p:cNvSpPr/>
          <p:nvPr/>
        </p:nvSpPr>
        <p:spPr>
          <a:xfrm>
            <a:off x="6256816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/>
              <a:t>s</a:t>
            </a:r>
            <a:endParaRPr lang="zh-CN" altLang="en-US" sz="3600" b="1" i="1" strike="sngStrike" dirty="0"/>
          </a:p>
        </p:txBody>
      </p:sp>
      <p:sp>
        <p:nvSpPr>
          <p:cNvPr id="172" name="矩形 171"/>
          <p:cNvSpPr/>
          <p:nvPr/>
        </p:nvSpPr>
        <p:spPr>
          <a:xfrm>
            <a:off x="7048904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175" name="矩形 174"/>
          <p:cNvSpPr/>
          <p:nvPr/>
        </p:nvSpPr>
        <p:spPr>
          <a:xfrm>
            <a:off x="6264229" y="574520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76" name="矩形 175"/>
          <p:cNvSpPr/>
          <p:nvPr/>
        </p:nvSpPr>
        <p:spPr>
          <a:xfrm>
            <a:off x="8469285" y="5733256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77" name="矩形 176"/>
          <p:cNvSpPr/>
          <p:nvPr/>
        </p:nvSpPr>
        <p:spPr>
          <a:xfrm>
            <a:off x="7812360" y="5737600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79" name="矩形 178"/>
          <p:cNvSpPr/>
          <p:nvPr/>
        </p:nvSpPr>
        <p:spPr>
          <a:xfrm>
            <a:off x="8511823" y="572297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180" name="矩形 179"/>
          <p:cNvSpPr/>
          <p:nvPr/>
        </p:nvSpPr>
        <p:spPr>
          <a:xfrm>
            <a:off x="8511823" y="630413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11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6227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5436096" y="348836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5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4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56787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3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460432" y="2034819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11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from </a:t>
            </a:r>
            <a:r>
              <a:rPr lang="en-US" altLang="zh-CN" i="1" dirty="0" smtClean="0"/>
              <a:t>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6989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b="1" i="1" dirty="0" smtClean="0">
                <a:latin typeface="+mj-lt"/>
              </a:rPr>
              <a:t>#2 Path finding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</a:rPr>
              <a:t>Find the min distance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A</a:t>
            </a:r>
            <a:endParaRPr lang="zh-CN" altLang="en-US" sz="3600" strike="sngStrike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C</a:t>
            </a:r>
            <a:endParaRPr lang="zh-CN" altLang="en-US" sz="3600" strike="sngStrike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8286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5</a:t>
            </a:r>
            <a:endParaRPr lang="zh-CN" altLang="en-US" sz="3600" strike="sngStrike" dirty="0"/>
          </a:p>
        </p:txBody>
      </p:sp>
      <p:sp>
        <p:nvSpPr>
          <p:cNvPr id="67" name="矩形 66"/>
          <p:cNvSpPr/>
          <p:nvPr/>
        </p:nvSpPr>
        <p:spPr>
          <a:xfrm>
            <a:off x="2374954" y="3419354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2</a:t>
            </a:r>
            <a:endParaRPr lang="zh-CN" altLang="en-US" sz="3600" dirty="0"/>
          </a:p>
        </p:txBody>
      </p:sp>
      <p:sp>
        <p:nvSpPr>
          <p:cNvPr id="68" name="矩形 67"/>
          <p:cNvSpPr/>
          <p:nvPr/>
        </p:nvSpPr>
        <p:spPr>
          <a:xfrm>
            <a:off x="309503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69" name="矩形 68"/>
          <p:cNvSpPr/>
          <p:nvPr/>
        </p:nvSpPr>
        <p:spPr>
          <a:xfrm>
            <a:off x="374310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73" name="矩形 72"/>
          <p:cNvSpPr/>
          <p:nvPr/>
        </p:nvSpPr>
        <p:spPr>
          <a:xfrm>
            <a:off x="1560696" y="3928551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74" name="矩形 73"/>
          <p:cNvSpPr/>
          <p:nvPr/>
        </p:nvSpPr>
        <p:spPr>
          <a:xfrm>
            <a:off x="3072864" y="3928551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3</a:t>
            </a:r>
            <a:endParaRPr lang="zh-CN" altLang="en-US" sz="3600" dirty="0"/>
          </a:p>
        </p:txBody>
      </p:sp>
      <p:sp>
        <p:nvSpPr>
          <p:cNvPr id="75" name="矩形 74"/>
          <p:cNvSpPr/>
          <p:nvPr/>
        </p:nvSpPr>
        <p:spPr>
          <a:xfrm>
            <a:off x="3635896" y="3928551"/>
            <a:ext cx="76217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000000"/>
                </a:solidFill>
              </a:rPr>
              <a:t>11</a:t>
            </a:r>
            <a:endParaRPr lang="zh-CN" altLang="en-US" sz="3600" b="1" i="1" strike="sngStrike" dirty="0"/>
          </a:p>
        </p:txBody>
      </p:sp>
      <p:sp>
        <p:nvSpPr>
          <p:cNvPr id="77" name="矩形 76"/>
          <p:cNvSpPr/>
          <p:nvPr/>
        </p:nvSpPr>
        <p:spPr>
          <a:xfrm>
            <a:off x="8460432" y="1592001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5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627881" y="4455990"/>
            <a:ext cx="76217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5</a:t>
            </a:r>
            <a:endParaRPr lang="zh-CN" altLang="en-US" sz="3600" b="1" i="1" dirty="0"/>
          </a:p>
        </p:txBody>
      </p:sp>
      <p:sp>
        <p:nvSpPr>
          <p:cNvPr id="79" name="矩形 78"/>
          <p:cNvSpPr/>
          <p:nvPr/>
        </p:nvSpPr>
        <p:spPr>
          <a:xfrm>
            <a:off x="1547664" y="4469909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80" name="矩形 79"/>
          <p:cNvSpPr/>
          <p:nvPr/>
        </p:nvSpPr>
        <p:spPr>
          <a:xfrm>
            <a:off x="179512" y="1584990"/>
            <a:ext cx="3552576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← 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mindistance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Q,d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sz="2800" dirty="0">
                <a:solidFill>
                  <a:srgbClr val="008000"/>
                </a:solidFill>
                <a:latin typeface="Times New Roman"/>
                <a:ea typeface="宋体"/>
              </a:rPr>
              <a:t> </a:t>
            </a:r>
            <a:endParaRPr lang="zh-CN" altLang="en-US" sz="2800" dirty="0"/>
          </a:p>
        </p:txBody>
      </p:sp>
      <p:cxnSp>
        <p:nvCxnSpPr>
          <p:cNvPr id="86" name="直接连接符 85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90" name="矩形 89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06" name="矩形 105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08" name="矩形 107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09" name="矩形 108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110" name="直接连接符 109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13" name="矩形 112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14" name="矩形 113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15" name="矩形 114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16" name="矩形 115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17" name="矩形 116"/>
          <p:cNvSpPr/>
          <p:nvPr/>
        </p:nvSpPr>
        <p:spPr>
          <a:xfrm>
            <a:off x="6256816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/>
              <a:t>s</a:t>
            </a:r>
            <a:endParaRPr lang="zh-CN" altLang="en-US" sz="3600" b="1" i="1" strike="sngStrike" dirty="0"/>
          </a:p>
        </p:txBody>
      </p:sp>
      <p:sp>
        <p:nvSpPr>
          <p:cNvPr id="118" name="矩形 117"/>
          <p:cNvSpPr/>
          <p:nvPr/>
        </p:nvSpPr>
        <p:spPr>
          <a:xfrm>
            <a:off x="7048904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119" name="矩形 118"/>
          <p:cNvSpPr/>
          <p:nvPr/>
        </p:nvSpPr>
        <p:spPr>
          <a:xfrm>
            <a:off x="6264229" y="574520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20" name="矩形 119"/>
          <p:cNvSpPr/>
          <p:nvPr/>
        </p:nvSpPr>
        <p:spPr>
          <a:xfrm>
            <a:off x="8469285" y="5733256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21" name="矩形 120"/>
          <p:cNvSpPr/>
          <p:nvPr/>
        </p:nvSpPr>
        <p:spPr>
          <a:xfrm>
            <a:off x="7812360" y="5737600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22" name="矩形 121"/>
          <p:cNvSpPr/>
          <p:nvPr/>
        </p:nvSpPr>
        <p:spPr>
          <a:xfrm>
            <a:off x="8511823" y="572297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123" name="矩形 122"/>
          <p:cNvSpPr/>
          <p:nvPr/>
        </p:nvSpPr>
        <p:spPr>
          <a:xfrm>
            <a:off x="8511823" y="630413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12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2887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5436096" y="348836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5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4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56787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3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460432" y="2034819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11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from </a:t>
            </a:r>
            <a:r>
              <a:rPr lang="en-US" altLang="zh-CN" i="1" dirty="0" smtClean="0"/>
              <a:t>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76200">
            <a:solidFill>
              <a:srgbClr val="00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6989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b="1" i="1" dirty="0" smtClean="0">
                <a:latin typeface="+mj-lt"/>
              </a:rPr>
              <a:t>#2 Path finding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</a:rPr>
              <a:t>update the shortest distance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A</a:t>
            </a:r>
            <a:endParaRPr lang="zh-CN" altLang="en-US" sz="3600" strike="sngStrike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C</a:t>
            </a:r>
            <a:endParaRPr lang="zh-CN" altLang="en-US" sz="3600" strike="sngStrike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solidFill>
            <a:srgbClr val="D7D7D7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58286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5</a:t>
            </a:r>
            <a:endParaRPr lang="zh-CN" altLang="en-US" sz="3600" strike="sngStrike" dirty="0"/>
          </a:p>
        </p:txBody>
      </p:sp>
      <p:sp>
        <p:nvSpPr>
          <p:cNvPr id="67" name="矩形 66"/>
          <p:cNvSpPr/>
          <p:nvPr/>
        </p:nvSpPr>
        <p:spPr>
          <a:xfrm>
            <a:off x="2374954" y="3419354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2</a:t>
            </a:r>
            <a:endParaRPr lang="zh-CN" altLang="en-US" sz="3600" dirty="0"/>
          </a:p>
        </p:txBody>
      </p:sp>
      <p:sp>
        <p:nvSpPr>
          <p:cNvPr id="68" name="矩形 67"/>
          <p:cNvSpPr/>
          <p:nvPr/>
        </p:nvSpPr>
        <p:spPr>
          <a:xfrm>
            <a:off x="309503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69" name="矩形 68"/>
          <p:cNvSpPr/>
          <p:nvPr/>
        </p:nvSpPr>
        <p:spPr>
          <a:xfrm>
            <a:off x="374310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73" name="矩形 72"/>
          <p:cNvSpPr/>
          <p:nvPr/>
        </p:nvSpPr>
        <p:spPr>
          <a:xfrm>
            <a:off x="1560696" y="3928551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74" name="矩形 73"/>
          <p:cNvSpPr/>
          <p:nvPr/>
        </p:nvSpPr>
        <p:spPr>
          <a:xfrm>
            <a:off x="3072864" y="3928551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3</a:t>
            </a:r>
            <a:endParaRPr lang="zh-CN" altLang="en-US" sz="3600" dirty="0"/>
          </a:p>
        </p:txBody>
      </p:sp>
      <p:sp>
        <p:nvSpPr>
          <p:cNvPr id="75" name="矩形 74"/>
          <p:cNvSpPr/>
          <p:nvPr/>
        </p:nvSpPr>
        <p:spPr>
          <a:xfrm>
            <a:off x="3635896" y="3928551"/>
            <a:ext cx="76217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000000"/>
                </a:solidFill>
              </a:rPr>
              <a:t>11</a:t>
            </a:r>
            <a:endParaRPr lang="zh-CN" altLang="en-US" sz="3600" b="1" i="1" strike="sngStrike" dirty="0"/>
          </a:p>
        </p:txBody>
      </p:sp>
      <p:sp>
        <p:nvSpPr>
          <p:cNvPr id="77" name="矩形 76"/>
          <p:cNvSpPr/>
          <p:nvPr/>
        </p:nvSpPr>
        <p:spPr>
          <a:xfrm>
            <a:off x="8460432" y="1592001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5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627881" y="4455990"/>
            <a:ext cx="762173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5</a:t>
            </a:r>
            <a:endParaRPr lang="zh-CN" altLang="en-US" sz="3600" b="1" i="1" dirty="0"/>
          </a:p>
        </p:txBody>
      </p:sp>
      <p:sp>
        <p:nvSpPr>
          <p:cNvPr id="79" name="矩形 78"/>
          <p:cNvSpPr/>
          <p:nvPr/>
        </p:nvSpPr>
        <p:spPr>
          <a:xfrm>
            <a:off x="1547664" y="4469909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86" name="矩形 85"/>
          <p:cNvSpPr/>
          <p:nvPr/>
        </p:nvSpPr>
        <p:spPr>
          <a:xfrm>
            <a:off x="3635896" y="4936027"/>
            <a:ext cx="762173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5</a:t>
            </a:r>
            <a:endParaRPr lang="zh-CN" altLang="en-US" sz="3600" b="1" i="1" dirty="0"/>
          </a:p>
        </p:txBody>
      </p:sp>
      <p:sp>
        <p:nvSpPr>
          <p:cNvPr id="87" name="矩形 86"/>
          <p:cNvSpPr/>
          <p:nvPr/>
        </p:nvSpPr>
        <p:spPr>
          <a:xfrm>
            <a:off x="179512" y="1584990"/>
            <a:ext cx="3432350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d[v] 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← d[u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] + w(u, v) </a:t>
            </a:r>
            <a:endParaRPr lang="zh-CN" altLang="en-US" sz="2800" dirty="0"/>
          </a:p>
        </p:txBody>
      </p:sp>
      <p:cxnSp>
        <p:nvCxnSpPr>
          <p:cNvPr id="88" name="直接连接符 87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128" name="矩形 127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29" name="矩形 128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30" name="矩形 129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31" name="矩形 130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132" name="直接连接符 131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35" name="矩形 134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36" name="矩形 135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37" name="矩形 136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38" name="矩形 137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39" name="矩形 138"/>
          <p:cNvSpPr/>
          <p:nvPr/>
        </p:nvSpPr>
        <p:spPr>
          <a:xfrm>
            <a:off x="6256816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/>
              <a:t>s</a:t>
            </a:r>
            <a:endParaRPr lang="zh-CN" altLang="en-US" sz="3600" b="1" i="1" strike="sngStrike" dirty="0"/>
          </a:p>
        </p:txBody>
      </p:sp>
      <p:sp>
        <p:nvSpPr>
          <p:cNvPr id="140" name="矩形 139"/>
          <p:cNvSpPr/>
          <p:nvPr/>
        </p:nvSpPr>
        <p:spPr>
          <a:xfrm>
            <a:off x="7048904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141" name="矩形 140"/>
          <p:cNvSpPr/>
          <p:nvPr/>
        </p:nvSpPr>
        <p:spPr>
          <a:xfrm>
            <a:off x="6264229" y="574520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42" name="矩形 141"/>
          <p:cNvSpPr/>
          <p:nvPr/>
        </p:nvSpPr>
        <p:spPr>
          <a:xfrm>
            <a:off x="8469285" y="5733256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43" name="矩形 142"/>
          <p:cNvSpPr/>
          <p:nvPr/>
        </p:nvSpPr>
        <p:spPr>
          <a:xfrm>
            <a:off x="7812360" y="5737600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44" name="矩形 143"/>
          <p:cNvSpPr/>
          <p:nvPr/>
        </p:nvSpPr>
        <p:spPr>
          <a:xfrm>
            <a:off x="8511823" y="572297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145" name="矩形 144"/>
          <p:cNvSpPr/>
          <p:nvPr/>
        </p:nvSpPr>
        <p:spPr>
          <a:xfrm>
            <a:off x="8511823" y="630413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13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1766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/>
          <p:cNvSpPr/>
          <p:nvPr/>
        </p:nvSpPr>
        <p:spPr>
          <a:xfrm>
            <a:off x="5436096" y="348836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5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37" name="矩形 236"/>
          <p:cNvSpPr/>
          <p:nvPr/>
        </p:nvSpPr>
        <p:spPr>
          <a:xfrm>
            <a:off x="4866747" y="173390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0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5818905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4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39" name="矩形 238"/>
          <p:cNvSpPr/>
          <p:nvPr/>
        </p:nvSpPr>
        <p:spPr>
          <a:xfrm>
            <a:off x="7152600" y="1221949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7309539" y="356787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3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8460432" y="2034819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FF0000"/>
                </a:solidFill>
              </a:rPr>
              <a:t>11</a:t>
            </a:r>
            <a:endParaRPr lang="zh-CN" altLang="en-US" sz="3600" strike="sngStrike" dirty="0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8116051" cy="647700"/>
          </a:xfrm>
        </p:spPr>
        <p:txBody>
          <a:bodyPr/>
          <a:lstStyle/>
          <a:p>
            <a:r>
              <a:rPr lang="en-US" altLang="zh-CN" dirty="0" smtClean="0"/>
              <a:t>Demo – </a:t>
            </a:r>
            <a:r>
              <a:rPr lang="en-US" altLang="zh-CN" i="1" dirty="0"/>
              <a:t>F</a:t>
            </a:r>
            <a:r>
              <a:rPr lang="en-US" altLang="zh-CN" i="1" dirty="0" smtClean="0"/>
              <a:t>inding shortest </a:t>
            </a:r>
            <a:r>
              <a:rPr lang="en-US" altLang="zh-CN" i="1" dirty="0"/>
              <a:t>path from </a:t>
            </a:r>
            <a:r>
              <a:rPr lang="en-US" altLang="zh-CN" i="1" dirty="0" smtClean="0"/>
              <a:t>s</a:t>
            </a:r>
            <a:endParaRPr lang="zh-CN" altLang="en-US" i="1" dirty="0"/>
          </a:p>
        </p:txBody>
      </p:sp>
      <p:sp>
        <p:nvSpPr>
          <p:cNvPr id="166" name="文本框 165"/>
          <p:cNvSpPr txBox="1"/>
          <p:nvPr/>
        </p:nvSpPr>
        <p:spPr>
          <a:xfrm>
            <a:off x="6590464" y="3246072"/>
            <a:ext cx="523580" cy="4968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4</a:t>
            </a:r>
            <a:endParaRPr lang="zh-CN" altLang="en-US" sz="2800" b="1" dirty="0"/>
          </a:p>
        </p:txBody>
      </p:sp>
      <p:sp>
        <p:nvSpPr>
          <p:cNvPr id="155" name="椭圆 154"/>
          <p:cNvSpPr/>
          <p:nvPr/>
        </p:nvSpPr>
        <p:spPr>
          <a:xfrm>
            <a:off x="4881796" y="2226129"/>
            <a:ext cx="665358" cy="6504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>
                <a:solidFill>
                  <a:schemeClr val="tx1"/>
                </a:solidFill>
              </a:rPr>
              <a:t>s</a:t>
            </a:r>
            <a:endParaRPr lang="zh-CN" altLang="en-US" sz="4400" b="1" i="1" dirty="0">
              <a:solidFill>
                <a:schemeClr val="tx1"/>
              </a:solidFill>
            </a:endParaRPr>
          </a:p>
        </p:txBody>
      </p:sp>
      <p:sp>
        <p:nvSpPr>
          <p:cNvPr id="156" name="椭圆 155"/>
          <p:cNvSpPr/>
          <p:nvPr/>
        </p:nvSpPr>
        <p:spPr>
          <a:xfrm>
            <a:off x="5878001" y="2952153"/>
            <a:ext cx="573535" cy="565979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57" name="椭圆 156"/>
          <p:cNvSpPr/>
          <p:nvPr/>
        </p:nvSpPr>
        <p:spPr>
          <a:xfrm>
            <a:off x="8584348" y="2544157"/>
            <a:ext cx="545920" cy="563218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4400" b="1" i="1" dirty="0" smtClean="0"/>
              <a:t>t</a:t>
            </a:r>
            <a:endParaRPr lang="zh-CN" altLang="en-US" sz="4400" b="1" i="1" dirty="0"/>
          </a:p>
        </p:txBody>
      </p:sp>
      <p:cxnSp>
        <p:nvCxnSpPr>
          <p:cNvPr id="158" name="直接连接符 157"/>
          <p:cNvCxnSpPr/>
          <p:nvPr/>
        </p:nvCxnSpPr>
        <p:spPr>
          <a:xfrm flipV="1">
            <a:off x="5535369" y="1947885"/>
            <a:ext cx="1270052" cy="480327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7337014" y="2007926"/>
            <a:ext cx="1286889" cy="65878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/>
          <p:nvPr/>
        </p:nvCxnSpPr>
        <p:spPr>
          <a:xfrm>
            <a:off x="5426324" y="2808470"/>
            <a:ext cx="468252" cy="326889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/>
          <p:nvPr/>
        </p:nvCxnSpPr>
        <p:spPr>
          <a:xfrm flipV="1">
            <a:off x="7753950" y="2962742"/>
            <a:ext cx="841890" cy="279356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endCxn id="173" idx="2"/>
          </p:cNvCxnSpPr>
          <p:nvPr/>
        </p:nvCxnSpPr>
        <p:spPr>
          <a:xfrm>
            <a:off x="6446213" y="3288797"/>
            <a:ext cx="758703" cy="51265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本框 162"/>
          <p:cNvSpPr txBox="1"/>
          <p:nvPr/>
        </p:nvSpPr>
        <p:spPr>
          <a:xfrm>
            <a:off x="5889908" y="177204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64" name="文本框 163"/>
          <p:cNvSpPr txBox="1"/>
          <p:nvPr/>
        </p:nvSpPr>
        <p:spPr>
          <a:xfrm>
            <a:off x="7927513" y="1892803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9</a:t>
            </a:r>
            <a:endParaRPr lang="zh-CN" altLang="en-US" sz="2800" b="1" dirty="0"/>
          </a:p>
        </p:txBody>
      </p:sp>
      <p:sp>
        <p:nvSpPr>
          <p:cNvPr id="167" name="文本框 166"/>
          <p:cNvSpPr txBox="1"/>
          <p:nvPr/>
        </p:nvSpPr>
        <p:spPr>
          <a:xfrm>
            <a:off x="8102056" y="3002839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cxnSp>
        <p:nvCxnSpPr>
          <p:cNvPr id="168" name="直接连接符 167"/>
          <p:cNvCxnSpPr/>
          <p:nvPr/>
        </p:nvCxnSpPr>
        <p:spPr>
          <a:xfrm>
            <a:off x="7152600" y="2153859"/>
            <a:ext cx="260585" cy="917291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文本框 168"/>
          <p:cNvSpPr txBox="1"/>
          <p:nvPr/>
        </p:nvSpPr>
        <p:spPr>
          <a:xfrm>
            <a:off x="7253563" y="2339374"/>
            <a:ext cx="482675" cy="4580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1</a:t>
            </a:r>
            <a:endParaRPr lang="zh-CN" altLang="en-US" sz="2800" b="1" dirty="0"/>
          </a:p>
        </p:txBody>
      </p:sp>
      <p:sp>
        <p:nvSpPr>
          <p:cNvPr id="173" name="椭圆 172"/>
          <p:cNvSpPr/>
          <p:nvPr/>
        </p:nvSpPr>
        <p:spPr>
          <a:xfrm>
            <a:off x="7204916" y="3042921"/>
            <a:ext cx="571407" cy="59428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74" name="椭圆 173"/>
          <p:cNvSpPr/>
          <p:nvPr/>
        </p:nvSpPr>
        <p:spPr>
          <a:xfrm>
            <a:off x="6786270" y="1576497"/>
            <a:ext cx="583429" cy="606786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cxnSp>
        <p:nvCxnSpPr>
          <p:cNvPr id="178" name="直接连接符 177"/>
          <p:cNvCxnSpPr/>
          <p:nvPr/>
        </p:nvCxnSpPr>
        <p:spPr>
          <a:xfrm flipH="1">
            <a:off x="6292269" y="2114666"/>
            <a:ext cx="622196" cy="853914"/>
          </a:xfrm>
          <a:prstGeom prst="line">
            <a:avLst/>
          </a:prstGeom>
          <a:ln w="38100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/>
          <p:cNvSpPr txBox="1"/>
          <p:nvPr/>
        </p:nvSpPr>
        <p:spPr>
          <a:xfrm>
            <a:off x="6275826" y="2282785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2</a:t>
            </a:r>
            <a:endParaRPr lang="zh-CN" altLang="en-US" sz="2800" b="1" dirty="0"/>
          </a:p>
        </p:txBody>
      </p:sp>
      <p:sp>
        <p:nvSpPr>
          <p:cNvPr id="197" name="文本框 196"/>
          <p:cNvSpPr txBox="1"/>
          <p:nvPr/>
        </p:nvSpPr>
        <p:spPr>
          <a:xfrm>
            <a:off x="163394" y="1124744"/>
            <a:ext cx="6989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b="1" i="1" dirty="0" smtClean="0">
                <a:latin typeface="+mj-lt"/>
              </a:rPr>
              <a:t>#2 Path finding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</a:rPr>
              <a:t>Find the min distance</a:t>
            </a:r>
            <a:endParaRPr lang="zh-CN" altLang="en-US" sz="2800" b="1" i="1" dirty="0">
              <a:latin typeface="+mj-lt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246434" y="218677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Q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200" name="矩形 199"/>
          <p:cNvSpPr/>
          <p:nvPr/>
        </p:nvSpPr>
        <p:spPr>
          <a:xfrm>
            <a:off x="91262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s</a:t>
            </a:r>
            <a:endParaRPr lang="zh-CN" altLang="en-US" sz="3600" b="1" i="1" strike="sngStrike" dirty="0"/>
          </a:p>
        </p:txBody>
      </p:sp>
      <p:sp>
        <p:nvSpPr>
          <p:cNvPr id="201" name="矩形 200"/>
          <p:cNvSpPr/>
          <p:nvPr/>
        </p:nvSpPr>
        <p:spPr>
          <a:xfrm>
            <a:off x="1560696" y="2198366"/>
            <a:ext cx="576064" cy="509197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A</a:t>
            </a:r>
            <a:endParaRPr lang="zh-CN" altLang="en-US" sz="3600" strike="sngStrike" dirty="0"/>
          </a:p>
        </p:txBody>
      </p:sp>
      <p:sp>
        <p:nvSpPr>
          <p:cNvPr id="202" name="矩形 201"/>
          <p:cNvSpPr/>
          <p:nvPr/>
        </p:nvSpPr>
        <p:spPr>
          <a:xfrm>
            <a:off x="2339752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203" name="矩形 202"/>
          <p:cNvSpPr/>
          <p:nvPr/>
        </p:nvSpPr>
        <p:spPr>
          <a:xfrm>
            <a:off x="3072864" y="2198366"/>
            <a:ext cx="576064" cy="50919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C</a:t>
            </a:r>
            <a:endParaRPr lang="zh-CN" altLang="en-US" sz="3600" strike="sngStrike" dirty="0"/>
          </a:p>
        </p:txBody>
      </p:sp>
      <p:sp>
        <p:nvSpPr>
          <p:cNvPr id="204" name="矩形 203"/>
          <p:cNvSpPr/>
          <p:nvPr/>
        </p:nvSpPr>
        <p:spPr>
          <a:xfrm>
            <a:off x="3720936" y="2198366"/>
            <a:ext cx="576064" cy="509197"/>
          </a:xfrm>
          <a:prstGeom prst="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 smtClean="0"/>
              <a:t>t</a:t>
            </a:r>
            <a:endParaRPr lang="zh-CN" altLang="en-US" sz="3600" b="1" i="1" strike="sngStrike" dirty="0"/>
          </a:p>
        </p:txBody>
      </p:sp>
      <p:cxnSp>
        <p:nvCxnSpPr>
          <p:cNvPr id="206" name="直接连接符 205"/>
          <p:cNvCxnSpPr/>
          <p:nvPr/>
        </p:nvCxnSpPr>
        <p:spPr>
          <a:xfrm>
            <a:off x="323528" y="2792483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/>
          <p:nvPr/>
        </p:nvCxnSpPr>
        <p:spPr>
          <a:xfrm>
            <a:off x="323528" y="2730815"/>
            <a:ext cx="397347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912624" y="2847795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217" name="矩形 216"/>
          <p:cNvSpPr/>
          <p:nvPr/>
        </p:nvSpPr>
        <p:spPr>
          <a:xfrm>
            <a:off x="156069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∞</a:t>
            </a:r>
            <a:endParaRPr lang="zh-CN" altLang="en-US" sz="3600" dirty="0"/>
          </a:p>
        </p:txBody>
      </p:sp>
      <p:sp>
        <p:nvSpPr>
          <p:cNvPr id="218" name="矩形 217"/>
          <p:cNvSpPr/>
          <p:nvPr/>
        </p:nvSpPr>
        <p:spPr>
          <a:xfrm>
            <a:off x="235278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19" name="矩形 218"/>
          <p:cNvSpPr/>
          <p:nvPr/>
        </p:nvSpPr>
        <p:spPr>
          <a:xfrm>
            <a:off x="3072864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220" name="矩形 219"/>
          <p:cNvSpPr/>
          <p:nvPr/>
        </p:nvSpPr>
        <p:spPr>
          <a:xfrm>
            <a:off x="3720936" y="2847795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256" name="矩形 255"/>
          <p:cNvSpPr/>
          <p:nvPr/>
        </p:nvSpPr>
        <p:spPr>
          <a:xfrm>
            <a:off x="246434" y="349252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d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cxnSp>
        <p:nvCxnSpPr>
          <p:cNvPr id="257" name="直接连接符 256"/>
          <p:cNvCxnSpPr/>
          <p:nvPr/>
        </p:nvCxnSpPr>
        <p:spPr>
          <a:xfrm>
            <a:off x="882477" y="2792483"/>
            <a:ext cx="0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 flipH="1">
            <a:off x="822498" y="2792483"/>
            <a:ext cx="883" cy="26527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/>
          <p:cNvSpPr/>
          <p:nvPr/>
        </p:nvSpPr>
        <p:spPr>
          <a:xfrm>
            <a:off x="158286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5</a:t>
            </a:r>
            <a:endParaRPr lang="zh-CN" altLang="en-US" sz="3600" strike="sngStrike" dirty="0"/>
          </a:p>
        </p:txBody>
      </p:sp>
      <p:sp>
        <p:nvSpPr>
          <p:cNvPr id="67" name="矩形 66"/>
          <p:cNvSpPr/>
          <p:nvPr/>
        </p:nvSpPr>
        <p:spPr>
          <a:xfrm>
            <a:off x="2374954" y="3419354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2</a:t>
            </a:r>
            <a:endParaRPr lang="zh-CN" altLang="en-US" sz="3600" dirty="0"/>
          </a:p>
        </p:txBody>
      </p:sp>
      <p:sp>
        <p:nvSpPr>
          <p:cNvPr id="68" name="矩形 67"/>
          <p:cNvSpPr/>
          <p:nvPr/>
        </p:nvSpPr>
        <p:spPr>
          <a:xfrm>
            <a:off x="3095034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dirty="0"/>
          </a:p>
        </p:txBody>
      </p:sp>
      <p:sp>
        <p:nvSpPr>
          <p:cNvPr id="69" name="矩形 68"/>
          <p:cNvSpPr/>
          <p:nvPr/>
        </p:nvSpPr>
        <p:spPr>
          <a:xfrm>
            <a:off x="3743106" y="341935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rgbClr val="000000"/>
                </a:solidFill>
              </a:rPr>
              <a:t>∞</a:t>
            </a:r>
            <a:endParaRPr lang="zh-CN" altLang="en-US" sz="3600" b="1" i="1" dirty="0"/>
          </a:p>
        </p:txBody>
      </p:sp>
      <p:sp>
        <p:nvSpPr>
          <p:cNvPr id="71" name="文本框 70"/>
          <p:cNvSpPr txBox="1"/>
          <p:nvPr/>
        </p:nvSpPr>
        <p:spPr>
          <a:xfrm>
            <a:off x="5393467" y="2830726"/>
            <a:ext cx="48267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/>
              <a:t>5</a:t>
            </a:r>
            <a:endParaRPr lang="zh-CN" altLang="en-US" sz="2800" b="1" dirty="0"/>
          </a:p>
        </p:txBody>
      </p:sp>
      <p:sp>
        <p:nvSpPr>
          <p:cNvPr id="73" name="矩形 72"/>
          <p:cNvSpPr/>
          <p:nvPr/>
        </p:nvSpPr>
        <p:spPr>
          <a:xfrm>
            <a:off x="1560696" y="3928551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74" name="矩形 73"/>
          <p:cNvSpPr/>
          <p:nvPr/>
        </p:nvSpPr>
        <p:spPr>
          <a:xfrm>
            <a:off x="3072864" y="3928551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3</a:t>
            </a:r>
            <a:endParaRPr lang="zh-CN" altLang="en-US" sz="3600" dirty="0"/>
          </a:p>
        </p:txBody>
      </p:sp>
      <p:sp>
        <p:nvSpPr>
          <p:cNvPr id="75" name="矩形 74"/>
          <p:cNvSpPr/>
          <p:nvPr/>
        </p:nvSpPr>
        <p:spPr>
          <a:xfrm>
            <a:off x="3635896" y="3928551"/>
            <a:ext cx="76217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>
                <a:solidFill>
                  <a:srgbClr val="000000"/>
                </a:solidFill>
              </a:rPr>
              <a:t>11</a:t>
            </a:r>
            <a:endParaRPr lang="zh-CN" altLang="en-US" sz="3600" b="1" i="1" strike="sngStrike" dirty="0"/>
          </a:p>
        </p:txBody>
      </p:sp>
      <p:sp>
        <p:nvSpPr>
          <p:cNvPr id="77" name="矩形 76"/>
          <p:cNvSpPr/>
          <p:nvPr/>
        </p:nvSpPr>
        <p:spPr>
          <a:xfrm>
            <a:off x="8460432" y="1592001"/>
            <a:ext cx="720080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FF0000"/>
                </a:solidFill>
              </a:rPr>
              <a:t>5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627881" y="4455990"/>
            <a:ext cx="762173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5</a:t>
            </a:r>
            <a:endParaRPr lang="zh-CN" altLang="en-US" sz="3600" b="1" i="1" dirty="0"/>
          </a:p>
        </p:txBody>
      </p:sp>
      <p:sp>
        <p:nvSpPr>
          <p:cNvPr id="79" name="矩形 78"/>
          <p:cNvSpPr/>
          <p:nvPr/>
        </p:nvSpPr>
        <p:spPr>
          <a:xfrm>
            <a:off x="1547664" y="4469909"/>
            <a:ext cx="576064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4</a:t>
            </a:r>
            <a:endParaRPr lang="zh-CN" altLang="en-US" sz="3600" dirty="0"/>
          </a:p>
        </p:txBody>
      </p:sp>
      <p:sp>
        <p:nvSpPr>
          <p:cNvPr id="86" name="矩形 85"/>
          <p:cNvSpPr/>
          <p:nvPr/>
        </p:nvSpPr>
        <p:spPr>
          <a:xfrm>
            <a:off x="3635896" y="4936027"/>
            <a:ext cx="762173" cy="5091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rgbClr val="000000"/>
                </a:solidFill>
              </a:rPr>
              <a:t>5</a:t>
            </a:r>
            <a:endParaRPr lang="zh-CN" altLang="en-US" sz="3600" b="1" i="1" dirty="0"/>
          </a:p>
        </p:txBody>
      </p:sp>
      <p:sp>
        <p:nvSpPr>
          <p:cNvPr id="88" name="矩形 87"/>
          <p:cNvSpPr/>
          <p:nvPr/>
        </p:nvSpPr>
        <p:spPr>
          <a:xfrm>
            <a:off x="179512" y="1584990"/>
            <a:ext cx="3552576" cy="523220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← 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mindistance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Times New Roman"/>
                <a:ea typeface="宋体"/>
              </a:rPr>
              <a:t>Q,d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lang="en-US" altLang="zh-CN" sz="2800" dirty="0">
                <a:solidFill>
                  <a:srgbClr val="008000"/>
                </a:solidFill>
                <a:latin typeface="Times New Roman"/>
                <a:ea typeface="宋体"/>
              </a:rPr>
              <a:t> </a:t>
            </a:r>
            <a:endParaRPr lang="zh-CN" altLang="en-US" sz="2800" dirty="0"/>
          </a:p>
        </p:txBody>
      </p:sp>
      <p:sp>
        <p:nvSpPr>
          <p:cNvPr id="90" name="矩形 89"/>
          <p:cNvSpPr/>
          <p:nvPr/>
        </p:nvSpPr>
        <p:spPr>
          <a:xfrm>
            <a:off x="4456274" y="4887213"/>
            <a:ext cx="993063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pre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565212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s</a:t>
            </a:r>
            <a:endParaRPr lang="zh-CN" altLang="en-US" sz="3600" b="1" i="1" dirty="0"/>
          </a:p>
        </p:txBody>
      </p:sp>
      <p:sp>
        <p:nvSpPr>
          <p:cNvPr id="106" name="矩形 105"/>
          <p:cNvSpPr/>
          <p:nvPr/>
        </p:nvSpPr>
        <p:spPr>
          <a:xfrm>
            <a:off x="630019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A</a:t>
            </a:r>
            <a:endParaRPr lang="zh-CN" altLang="en-US" sz="3600" dirty="0"/>
          </a:p>
        </p:txBody>
      </p:sp>
      <p:sp>
        <p:nvSpPr>
          <p:cNvPr id="107" name="矩形 106"/>
          <p:cNvSpPr/>
          <p:nvPr/>
        </p:nvSpPr>
        <p:spPr>
          <a:xfrm>
            <a:off x="709228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08" name="矩形 107"/>
          <p:cNvSpPr/>
          <p:nvPr/>
        </p:nvSpPr>
        <p:spPr>
          <a:xfrm>
            <a:off x="7812360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109" name="矩形 108"/>
          <p:cNvSpPr/>
          <p:nvPr/>
        </p:nvSpPr>
        <p:spPr>
          <a:xfrm>
            <a:off x="8460432" y="4221088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110" name="直接连接符 109"/>
          <p:cNvCxnSpPr/>
          <p:nvPr/>
        </p:nvCxnSpPr>
        <p:spPr>
          <a:xfrm>
            <a:off x="5528957" y="4815205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5528957" y="4753537"/>
            <a:ext cx="343553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/>
          <p:cNvSpPr/>
          <p:nvPr/>
        </p:nvSpPr>
        <p:spPr>
          <a:xfrm>
            <a:off x="562181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0</a:t>
            </a:r>
            <a:endParaRPr lang="zh-CN" altLang="en-US" sz="3600" dirty="0"/>
          </a:p>
        </p:txBody>
      </p:sp>
      <p:sp>
        <p:nvSpPr>
          <p:cNvPr id="113" name="矩形 112"/>
          <p:cNvSpPr/>
          <p:nvPr/>
        </p:nvSpPr>
        <p:spPr>
          <a:xfrm>
            <a:off x="626989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14" name="矩形 113"/>
          <p:cNvSpPr/>
          <p:nvPr/>
        </p:nvSpPr>
        <p:spPr>
          <a:xfrm>
            <a:off x="706197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15" name="矩形 114"/>
          <p:cNvSpPr/>
          <p:nvPr/>
        </p:nvSpPr>
        <p:spPr>
          <a:xfrm>
            <a:off x="7782058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16" name="矩形 115"/>
          <p:cNvSpPr/>
          <p:nvPr/>
        </p:nvSpPr>
        <p:spPr>
          <a:xfrm>
            <a:off x="8430130" y="488721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0</a:t>
            </a:r>
            <a:endParaRPr lang="zh-CN" altLang="en-US" sz="3600" strike="sngStrike" dirty="0"/>
          </a:p>
        </p:txBody>
      </p:sp>
      <p:sp>
        <p:nvSpPr>
          <p:cNvPr id="117" name="矩形 116"/>
          <p:cNvSpPr/>
          <p:nvPr/>
        </p:nvSpPr>
        <p:spPr>
          <a:xfrm>
            <a:off x="6256816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strike="sngStrike" dirty="0"/>
              <a:t>s</a:t>
            </a:r>
            <a:endParaRPr lang="zh-CN" altLang="en-US" sz="3600" b="1" i="1" strike="sngStrike" dirty="0"/>
          </a:p>
        </p:txBody>
      </p:sp>
      <p:sp>
        <p:nvSpPr>
          <p:cNvPr id="118" name="矩形 117"/>
          <p:cNvSpPr/>
          <p:nvPr/>
        </p:nvSpPr>
        <p:spPr>
          <a:xfrm>
            <a:off x="7048904" y="5229200"/>
            <a:ext cx="576064" cy="509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b="1" i="1" dirty="0"/>
              <a:t>s</a:t>
            </a:r>
            <a:endParaRPr lang="zh-CN" altLang="en-US" sz="3600" b="1" i="1" dirty="0"/>
          </a:p>
        </p:txBody>
      </p:sp>
      <p:sp>
        <p:nvSpPr>
          <p:cNvPr id="119" name="矩形 118"/>
          <p:cNvSpPr/>
          <p:nvPr/>
        </p:nvSpPr>
        <p:spPr>
          <a:xfrm>
            <a:off x="6264229" y="5745201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20" name="矩形 119"/>
          <p:cNvSpPr/>
          <p:nvPr/>
        </p:nvSpPr>
        <p:spPr>
          <a:xfrm>
            <a:off x="8469285" y="5733256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21" name="矩形 120"/>
          <p:cNvSpPr/>
          <p:nvPr/>
        </p:nvSpPr>
        <p:spPr>
          <a:xfrm>
            <a:off x="7812360" y="5737600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B</a:t>
            </a:r>
            <a:endParaRPr lang="zh-CN" altLang="en-US" sz="3600" dirty="0"/>
          </a:p>
        </p:txBody>
      </p:sp>
      <p:sp>
        <p:nvSpPr>
          <p:cNvPr id="122" name="矩形 121"/>
          <p:cNvSpPr/>
          <p:nvPr/>
        </p:nvSpPr>
        <p:spPr>
          <a:xfrm>
            <a:off x="8511823" y="5722973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strike="sngStrike" dirty="0" smtClean="0"/>
              <a:t>B</a:t>
            </a:r>
            <a:endParaRPr lang="zh-CN" altLang="en-US" sz="3600" strike="sngStrike" dirty="0"/>
          </a:p>
        </p:txBody>
      </p:sp>
      <p:sp>
        <p:nvSpPr>
          <p:cNvPr id="123" name="矩形 122"/>
          <p:cNvSpPr/>
          <p:nvPr/>
        </p:nvSpPr>
        <p:spPr>
          <a:xfrm>
            <a:off x="8511823" y="6304134"/>
            <a:ext cx="576064" cy="50919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/>
              <a:t>C</a:t>
            </a:r>
            <a:endParaRPr lang="zh-CN" altLang="en-US" sz="3600" dirty="0"/>
          </a:p>
        </p:txBody>
      </p:sp>
      <p:sp>
        <p:nvSpPr>
          <p:cNvPr id="4" name="文本框 3"/>
          <p:cNvSpPr txBox="1"/>
          <p:nvPr/>
        </p:nvSpPr>
        <p:spPr>
          <a:xfrm>
            <a:off x="691205" y="5968552"/>
            <a:ext cx="3738321" cy="523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latin typeface="+mj-lt"/>
              </a:rPr>
              <a:t>SP</a:t>
            </a:r>
            <a:r>
              <a:rPr lang="en-US" altLang="zh-CN" sz="2800" dirty="0" smtClean="0">
                <a:latin typeface="+mj-lt"/>
              </a:rPr>
              <a:t>: </a:t>
            </a:r>
            <a:r>
              <a:rPr lang="en-US" altLang="zh-CN" sz="2800" b="1" i="1" dirty="0" smtClean="0">
                <a:latin typeface="+mj-lt"/>
              </a:rPr>
              <a:t>t</a:t>
            </a:r>
            <a:r>
              <a:rPr lang="en-US" altLang="zh-CN" sz="2800" dirty="0" smtClean="0">
                <a:latin typeface="+mj-lt"/>
              </a:rPr>
              <a:t> </a:t>
            </a:r>
            <a:r>
              <a:rPr lang="zh-CN" altLang="en-US" sz="2800" dirty="0" smtClean="0">
                <a:latin typeface="+mj-lt"/>
              </a:rPr>
              <a:t>→ </a:t>
            </a:r>
            <a:r>
              <a:rPr lang="en-US" altLang="zh-CN" sz="2800" dirty="0" smtClean="0">
                <a:latin typeface="+mj-lt"/>
              </a:rPr>
              <a:t>C </a:t>
            </a:r>
            <a:r>
              <a:rPr lang="zh-CN" altLang="en-US" sz="2800" dirty="0" smtClean="0">
                <a:latin typeface="+mj-lt"/>
              </a:rPr>
              <a:t>→ </a:t>
            </a:r>
            <a:r>
              <a:rPr lang="en-US" altLang="zh-CN" sz="2800" dirty="0" smtClean="0">
                <a:latin typeface="+mj-lt"/>
              </a:rPr>
              <a:t>B </a:t>
            </a:r>
            <a:r>
              <a:rPr lang="zh-CN" altLang="en-US" sz="2800" dirty="0" smtClean="0">
                <a:latin typeface="+mj-lt"/>
              </a:rPr>
              <a:t>→ </a:t>
            </a:r>
            <a:r>
              <a:rPr lang="en-US" altLang="zh-CN" sz="2800" b="1" i="1" dirty="0" smtClean="0">
                <a:latin typeface="+mj-lt"/>
              </a:rPr>
              <a:t>s</a:t>
            </a:r>
            <a:r>
              <a:rPr lang="en-US" altLang="zh-CN" sz="2800" dirty="0" smtClean="0">
                <a:latin typeface="+mj-lt"/>
              </a:rPr>
              <a:t> </a:t>
            </a:r>
            <a:endParaRPr lang="zh-CN" altLang="en-US" sz="2800" dirty="0">
              <a:latin typeface="+mj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14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421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0405" y="333028"/>
            <a:ext cx="7900027" cy="647700"/>
          </a:xfrm>
        </p:spPr>
        <p:txBody>
          <a:bodyPr/>
          <a:lstStyle/>
          <a:p>
            <a:r>
              <a:rPr lang="en-US" altLang="zh-CN" dirty="0" smtClean="0"/>
              <a:t>Algorithm - </a:t>
            </a:r>
            <a:r>
              <a:rPr lang="en-US" altLang="zh-CN" i="1" dirty="0" smtClean="0"/>
              <a:t>Pseudo code</a:t>
            </a:r>
            <a:endParaRPr lang="zh-CN" altLang="en-US" i="1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51520" y="3893036"/>
            <a:ext cx="6480720" cy="2806922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zh-CN" b="1" dirty="0" smtClean="0">
                <a:solidFill>
                  <a:srgbClr val="000000"/>
                </a:solidFill>
                <a:latin typeface="Times New Roman"/>
              </a:rPr>
              <a:t>while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Q ≠ ∅ 		</a:t>
            </a:r>
            <a:r>
              <a:rPr lang="en-US" altLang="zh-CN" dirty="0" smtClean="0">
                <a:solidFill>
                  <a:srgbClr val="008000"/>
                </a:solidFill>
                <a:latin typeface="Times New Roman"/>
              </a:rPr>
              <a:t> </a:t>
            </a:r>
            <a:br>
              <a:rPr lang="en-US" altLang="zh-CN" dirty="0" smtClean="0">
                <a:solidFill>
                  <a:srgbClr val="008000"/>
                </a:solidFill>
                <a:latin typeface="Times New Roman"/>
              </a:rPr>
            </a:br>
            <a:r>
              <a:rPr lang="en-US" altLang="zh-CN" b="1" dirty="0" smtClean="0">
                <a:solidFill>
                  <a:srgbClr val="000000"/>
                </a:solidFill>
                <a:latin typeface="Times New Roman"/>
              </a:rPr>
              <a:t>do 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u ← </a:t>
            </a:r>
            <a:r>
              <a:rPr lang="en-US" altLang="zh-CN" dirty="0" err="1" smtClean="0">
                <a:solidFill>
                  <a:srgbClr val="000000"/>
                </a:solidFill>
                <a:latin typeface="Times New Roman"/>
              </a:rPr>
              <a:t>mindistance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Times New Roman"/>
              </a:rPr>
              <a:t>Q,d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)</a:t>
            </a:r>
            <a:r>
              <a:rPr lang="en-US" altLang="zh-CN" dirty="0" smtClean="0">
                <a:solidFill>
                  <a:srgbClr val="008000"/>
                </a:solidFill>
                <a:latin typeface="Times New Roman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/>
            </a:r>
            <a:br>
              <a:rPr lang="en-US" altLang="zh-CN" dirty="0" smtClean="0">
                <a:solidFill>
                  <a:srgbClr val="000000"/>
                </a:solidFill>
                <a:latin typeface="Times New Roman"/>
              </a:rPr>
            </a:b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     Q←Q - {u} 		</a:t>
            </a:r>
            <a:r>
              <a:rPr lang="en-US" altLang="zh-CN" dirty="0" smtClean="0">
                <a:solidFill>
                  <a:srgbClr val="008000"/>
                </a:solidFill>
                <a:latin typeface="Times New Roman"/>
              </a:rPr>
              <a:t/>
            </a:r>
            <a:br>
              <a:rPr lang="en-US" altLang="zh-CN" dirty="0" smtClean="0">
                <a:solidFill>
                  <a:srgbClr val="008000"/>
                </a:solidFill>
                <a:latin typeface="Times New Roman"/>
              </a:rPr>
            </a:b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     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/>
              </a:rPr>
              <a:t>for all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v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/>
              </a:rPr>
              <a:t>in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Times New Roman"/>
              </a:rPr>
              <a:t>adj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[u]	 </a:t>
            </a:r>
            <a:br>
              <a:rPr lang="en-US" altLang="zh-CN" dirty="0" smtClean="0">
                <a:solidFill>
                  <a:srgbClr val="000000"/>
                </a:solidFill>
                <a:latin typeface="Times New Roman"/>
              </a:rPr>
            </a:b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/>
              </a:rPr>
              <a:t>do  if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  d[v] &gt; d[u] + w(u, v)</a:t>
            </a:r>
            <a:r>
              <a:rPr lang="en-US" altLang="zh-CN" dirty="0" smtClean="0">
                <a:solidFill>
                  <a:srgbClr val="008000"/>
                </a:solidFill>
                <a:latin typeface="Times New Roman"/>
              </a:rPr>
              <a:t/>
            </a:r>
            <a:br>
              <a:rPr lang="en-US" altLang="zh-CN" dirty="0" smtClean="0">
                <a:solidFill>
                  <a:srgbClr val="008000"/>
                </a:solidFill>
                <a:latin typeface="Times New Roman"/>
              </a:rPr>
            </a:b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                    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/>
              </a:rPr>
              <a:t>then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  d[v] ←d[u] + w(u, v) </a:t>
            </a:r>
            <a:endParaRPr lang="en-US" altLang="zh-CN" dirty="0" smtClean="0">
              <a:solidFill>
                <a:srgbClr val="008000"/>
              </a:solidFill>
              <a:latin typeface="Times New Roman"/>
            </a:endParaRPr>
          </a:p>
          <a:p>
            <a:pPr eaLnBrk="1" hangingPunct="1">
              <a:lnSpc>
                <a:spcPct val="95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		      </a:t>
            </a:r>
            <a:r>
              <a:rPr lang="en-US" altLang="zh-CN" dirty="0" err="1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altLang="zh-CN" dirty="0" err="1" smtClean="0">
                <a:solidFill>
                  <a:srgbClr val="000000"/>
                </a:solidFill>
                <a:latin typeface="Times New Roman"/>
              </a:rPr>
              <a:t>.pre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= u</a:t>
            </a:r>
          </a:p>
          <a:p>
            <a:pPr eaLnBrk="1" hangingPunct="1">
              <a:lnSpc>
                <a:spcPct val="95000"/>
              </a:lnSpc>
            </a:pPr>
            <a:r>
              <a:rPr lang="en-US" altLang="zh-CN" b="1" dirty="0" smtClean="0">
                <a:solidFill>
                  <a:srgbClr val="000000"/>
                </a:solidFill>
                <a:latin typeface="Times New Roman"/>
              </a:rPr>
              <a:t>return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</a:rPr>
              <a:t> d</a:t>
            </a:r>
          </a:p>
        </p:txBody>
      </p:sp>
      <p:sp>
        <p:nvSpPr>
          <p:cNvPr id="6" name="矩形 5"/>
          <p:cNvSpPr/>
          <p:nvPr/>
        </p:nvSpPr>
        <p:spPr>
          <a:xfrm>
            <a:off x="56982" y="1580010"/>
            <a:ext cx="9051522" cy="16457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499992" y="1671191"/>
            <a:ext cx="2797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/>
              </a:rPr>
              <a:t>(distance to </a:t>
            </a:r>
            <a:r>
              <a:rPr lang="en-US" altLang="zh-CN" sz="2400" b="1" i="1" dirty="0">
                <a:solidFill>
                  <a:srgbClr val="008000"/>
                </a:solidFill>
                <a:latin typeface="Times New Roman"/>
              </a:rPr>
              <a:t>s</a:t>
            </a:r>
            <a:r>
              <a:rPr lang="en-US" altLang="zh-CN" sz="2400" b="1" i="1" dirty="0" smtClean="0">
                <a:solidFill>
                  <a:srgbClr val="008000"/>
                </a:solidFill>
                <a:latin typeface="Times New Roman"/>
              </a:rPr>
              <a:t> 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/>
              </a:rPr>
              <a:t>is </a:t>
            </a:r>
            <a:r>
              <a:rPr lang="en-US" altLang="zh-CN" sz="2400" dirty="0">
                <a:solidFill>
                  <a:srgbClr val="008000"/>
                </a:solidFill>
                <a:latin typeface="Times New Roman"/>
              </a:rPr>
              <a:t>zero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10418" y="2348880"/>
            <a:ext cx="4323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/>
              </a:rPr>
              <a:t>(set all other distances to infinity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6599" y="6070644"/>
            <a:ext cx="3741465" cy="310684"/>
          </a:xfrm>
          <a:prstGeom prst="rect">
            <a:avLst/>
          </a:prstGeom>
          <a:solidFill>
            <a:srgbClr val="3333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79512" y="1643316"/>
            <a:ext cx="39592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d[s] 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>←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0, </a:t>
            </a:r>
            <a:r>
              <a:rPr lang="en-US" altLang="zh-CN" sz="2400" dirty="0" err="1" smtClean="0">
                <a:solidFill>
                  <a:srgbClr val="000000"/>
                </a:solidFill>
                <a:latin typeface="Times New Roman"/>
              </a:rPr>
              <a:t>s.pre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 = null        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>	</a:t>
            </a:r>
            <a:r>
              <a:rPr lang="en-US" altLang="zh-CN" sz="2400" dirty="0">
                <a:solidFill>
                  <a:srgbClr val="008000"/>
                </a:solidFill>
                <a:latin typeface="Times New Roman"/>
              </a:rPr>
              <a:t/>
            </a:r>
            <a:br>
              <a:rPr lang="en-US" altLang="zh-CN" sz="2400" dirty="0">
                <a:solidFill>
                  <a:srgbClr val="008000"/>
                </a:solidFill>
                <a:latin typeface="Times New Roman"/>
              </a:rPr>
            </a:br>
            <a:r>
              <a:rPr lang="en-US" altLang="zh-CN" sz="2400" b="1" dirty="0">
                <a:solidFill>
                  <a:srgbClr val="000000"/>
                </a:solidFill>
                <a:latin typeface="Times New Roman"/>
              </a:rPr>
              <a:t>for  all 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>v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</a:rPr>
              <a:t>in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>V–{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s}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/>
            </a:r>
            <a:br>
              <a:rPr lang="en-US" altLang="zh-CN" sz="2400" dirty="0">
                <a:solidFill>
                  <a:srgbClr val="000000"/>
                </a:solidFill>
                <a:latin typeface="Times New Roman"/>
              </a:rPr>
            </a:b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>       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/>
              </a:rPr>
              <a:t>do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> 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d[v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>]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← ∞, </a:t>
            </a:r>
            <a:r>
              <a:rPr lang="en-US" altLang="zh-CN" sz="2400" dirty="0" err="1" smtClean="0">
                <a:solidFill>
                  <a:srgbClr val="000000"/>
                </a:solidFill>
                <a:latin typeface="Times New Roman"/>
              </a:rPr>
              <a:t>v.pre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 = null</a:t>
            </a:r>
            <a:r>
              <a:rPr lang="en-US" altLang="zh-CN" sz="2400" dirty="0">
                <a:solidFill>
                  <a:srgbClr val="008000"/>
                </a:solidFill>
                <a:latin typeface="Times New Roman"/>
              </a:rPr>
              <a:t/>
            </a:r>
            <a:br>
              <a:rPr lang="en-US" altLang="zh-CN" sz="2400" dirty="0">
                <a:solidFill>
                  <a:srgbClr val="008000"/>
                </a:solidFill>
                <a:latin typeface="Times New Roman"/>
              </a:rPr>
            </a:br>
            <a:r>
              <a:rPr lang="en-US" altLang="zh-CN" sz="2400" dirty="0" smtClean="0">
                <a:solidFill>
                  <a:srgbClr val="000000"/>
                </a:solidFill>
                <a:latin typeface="Times New Roman"/>
              </a:rPr>
              <a:t>Q </a:t>
            </a:r>
            <a:r>
              <a:rPr lang="en-US" altLang="zh-CN" sz="2400" dirty="0">
                <a:solidFill>
                  <a:srgbClr val="000000"/>
                </a:solidFill>
                <a:latin typeface="Times New Roman"/>
              </a:rPr>
              <a:t>← V </a:t>
            </a:r>
            <a:endParaRPr lang="zh-CN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419872" y="4149080"/>
            <a:ext cx="5791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  <a:latin typeface="Times New Roman"/>
                <a:ea typeface="宋体"/>
              </a:rPr>
              <a:t>(select the vertex in Q with the min. distance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66937" y="5305993"/>
            <a:ext cx="286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008000"/>
                </a:solidFill>
                <a:latin typeface="Times New Roman"/>
                <a:ea typeface="宋体"/>
              </a:rPr>
              <a:t>(update the distances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982" y="3874787"/>
            <a:ext cx="9051522" cy="28251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97196" y="5232686"/>
            <a:ext cx="3750868" cy="808057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82624" y="5954980"/>
            <a:ext cx="1837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008000"/>
                </a:solidFill>
                <a:latin typeface="Times New Roman"/>
                <a:ea typeface="宋体"/>
              </a:rPr>
              <a:t>(</a:t>
            </a:r>
            <a:r>
              <a:rPr lang="en-US" altLang="zh-CN" sz="2400" dirty="0" smtClean="0">
                <a:solidFill>
                  <a:srgbClr val="3333FF"/>
                </a:solidFill>
                <a:latin typeface="Times New Roman"/>
                <a:ea typeface="宋体"/>
              </a:rPr>
              <a:t>Trace back!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3394" y="1052736"/>
            <a:ext cx="2608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solidFill>
                  <a:srgbClr val="000000"/>
                </a:solidFill>
                <a:latin typeface="Times New Roman"/>
              </a:rPr>
              <a:t>#1 Initialization</a:t>
            </a:r>
            <a:endParaRPr lang="zh-CN" altLang="en-US" sz="2800" b="1" i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7108" y="3356992"/>
            <a:ext cx="2542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solidFill>
                  <a:srgbClr val="000000"/>
                </a:solidFill>
                <a:latin typeface="Times New Roman"/>
              </a:rPr>
              <a:t>#2 Path finding</a:t>
            </a:r>
            <a:endParaRPr lang="zh-CN" altLang="en-US" sz="2800" b="1" i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79513" y="1749018"/>
            <a:ext cx="1222985" cy="310975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464580" y="1749018"/>
            <a:ext cx="1584175" cy="302066"/>
          </a:xfrm>
          <a:prstGeom prst="rect">
            <a:avLst/>
          </a:prstGeom>
          <a:solidFill>
            <a:srgbClr val="3333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56492" y="2457626"/>
            <a:ext cx="1227276" cy="352918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537430" y="2457625"/>
            <a:ext cx="1481534" cy="352919"/>
          </a:xfrm>
          <a:prstGeom prst="rect">
            <a:avLst/>
          </a:prstGeom>
          <a:solidFill>
            <a:srgbClr val="3333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03813" y="4247007"/>
            <a:ext cx="2816059" cy="350723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zh-CN" altLang="zh-CN">
              <a:solidFill>
                <a:srgbClr val="000000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12672" y="4579325"/>
            <a:ext cx="26196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008000"/>
                </a:solidFill>
                <a:latin typeface="Times New Roman"/>
                <a:ea typeface="宋体"/>
              </a:rPr>
              <a:t>(Remove u from Q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/>
              </a:rPr>
              <a:t>)</a:t>
            </a:r>
            <a:endParaRPr lang="zh-CN" altLang="en-US" sz="240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23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  <p:bldP spid="21" grpId="0" animBg="1"/>
      <p:bldP spid="12" grpId="0"/>
      <p:bldP spid="14" grpId="0"/>
      <p:bldP spid="17" grpId="0"/>
      <p:bldP spid="18" grpId="0" animBg="1"/>
      <p:bldP spid="19" grpId="0" animBg="1"/>
      <p:bldP spid="20" grpId="0"/>
      <p:bldP spid="22" grpId="0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Remark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If not all of the weights are </a:t>
            </a:r>
            <a:r>
              <a:rPr lang="en-US" altLang="zh-CN" dirty="0" smtClean="0">
                <a:solidFill>
                  <a:srgbClr val="FF0000"/>
                </a:solidFill>
              </a:rPr>
              <a:t>non-negative: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err="1"/>
              <a:t>Dijkstra’s</a:t>
            </a:r>
            <a:r>
              <a:rPr lang="en-US" altLang="zh-CN" dirty="0"/>
              <a:t> </a:t>
            </a:r>
            <a:r>
              <a:rPr lang="en-US" altLang="zh-CN" dirty="0" smtClean="0"/>
              <a:t>Path?</a:t>
            </a:r>
            <a:endParaRPr lang="en-US" altLang="zh-CN" dirty="0"/>
          </a:p>
        </p:txBody>
      </p:sp>
      <p:sp>
        <p:nvSpPr>
          <p:cNvPr id="6" name="椭圆 5"/>
          <p:cNvSpPr/>
          <p:nvPr/>
        </p:nvSpPr>
        <p:spPr>
          <a:xfrm>
            <a:off x="2632656" y="2433900"/>
            <a:ext cx="532546" cy="500545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i="1" dirty="0" smtClean="0">
                <a:solidFill>
                  <a:schemeClr val="tx1"/>
                </a:solidFill>
              </a:rPr>
              <a:t>s</a:t>
            </a:r>
            <a:endParaRPr lang="zh-CN" altLang="en-US" sz="3600" b="1" i="1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4150490" y="3804133"/>
            <a:ext cx="459052" cy="435567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dirty="0" smtClean="0"/>
              <a:t>A</a:t>
            </a:r>
            <a:endParaRPr lang="zh-CN" altLang="en-US" sz="2800" dirty="0"/>
          </a:p>
        </p:txBody>
      </p:sp>
      <p:sp>
        <p:nvSpPr>
          <p:cNvPr id="8" name="椭圆 7"/>
          <p:cNvSpPr/>
          <p:nvPr/>
        </p:nvSpPr>
        <p:spPr>
          <a:xfrm>
            <a:off x="5799595" y="2439460"/>
            <a:ext cx="498990" cy="494985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9" name="直接连接符 8"/>
          <p:cNvCxnSpPr>
            <a:stCxn id="6" idx="6"/>
            <a:endCxn id="8" idx="2"/>
          </p:cNvCxnSpPr>
          <p:nvPr/>
        </p:nvCxnSpPr>
        <p:spPr>
          <a:xfrm>
            <a:off x="3165202" y="2684173"/>
            <a:ext cx="2634393" cy="2780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7" idx="1"/>
          </p:cNvCxnSpPr>
          <p:nvPr/>
        </p:nvCxnSpPr>
        <p:spPr>
          <a:xfrm>
            <a:off x="3031883" y="2929154"/>
            <a:ext cx="1185834" cy="938766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7" idx="7"/>
          </p:cNvCxnSpPr>
          <p:nvPr/>
        </p:nvCxnSpPr>
        <p:spPr>
          <a:xfrm flipV="1">
            <a:off x="4542315" y="2822119"/>
            <a:ext cx="1314085" cy="1045801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64"/>
          <p:cNvSpPr txBox="1"/>
          <p:nvPr/>
        </p:nvSpPr>
        <p:spPr>
          <a:xfrm>
            <a:off x="3624800" y="3045488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4</a:t>
            </a:r>
            <a:endParaRPr lang="zh-CN" altLang="en-US" sz="2000" b="1" dirty="0"/>
          </a:p>
        </p:txBody>
      </p:sp>
      <p:sp>
        <p:nvSpPr>
          <p:cNvPr id="18" name="文本框 166"/>
          <p:cNvSpPr txBox="1"/>
          <p:nvPr/>
        </p:nvSpPr>
        <p:spPr>
          <a:xfrm>
            <a:off x="5235955" y="3202044"/>
            <a:ext cx="558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>
                <a:solidFill>
                  <a:srgbClr val="FF0000"/>
                </a:solidFill>
              </a:rPr>
              <a:t>- 4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文本框 168"/>
          <p:cNvSpPr txBox="1"/>
          <p:nvPr/>
        </p:nvSpPr>
        <p:spPr>
          <a:xfrm>
            <a:off x="4267224" y="2291730"/>
            <a:ext cx="383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1</a:t>
            </a:r>
            <a:endParaRPr lang="zh-CN" altLang="en-US" sz="20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16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1989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16" grpId="0"/>
      <p:bldP spid="18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Remark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All</a:t>
            </a:r>
            <a:r>
              <a:rPr lang="en-US" altLang="zh-CN" dirty="0" smtClean="0"/>
              <a:t> the weights should be </a:t>
            </a:r>
            <a:r>
              <a:rPr lang="en-US" altLang="zh-CN" dirty="0" smtClean="0">
                <a:solidFill>
                  <a:srgbClr val="FF0000"/>
                </a:solidFill>
              </a:rPr>
              <a:t>non-negative</a:t>
            </a:r>
            <a:r>
              <a:rPr lang="en-US" altLang="zh-CN" dirty="0" smtClean="0"/>
              <a:t>!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Solution: 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?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/>
              <a:t>Add a positive value to all the weights.</a:t>
            </a:r>
          </a:p>
        </p:txBody>
      </p:sp>
      <p:sp>
        <p:nvSpPr>
          <p:cNvPr id="6" name="椭圆 5"/>
          <p:cNvSpPr/>
          <p:nvPr/>
        </p:nvSpPr>
        <p:spPr>
          <a:xfrm>
            <a:off x="2861179" y="2103178"/>
            <a:ext cx="532546" cy="500545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i="1" dirty="0" smtClean="0">
                <a:solidFill>
                  <a:schemeClr val="tx1"/>
                </a:solidFill>
              </a:rPr>
              <a:t>s</a:t>
            </a:r>
            <a:endParaRPr lang="zh-CN" altLang="en-US" sz="3600" b="1" i="1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4356084" y="2745471"/>
            <a:ext cx="459052" cy="435567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dirty="0" smtClean="0"/>
              <a:t>A</a:t>
            </a:r>
            <a:endParaRPr lang="zh-CN" altLang="en-US" sz="2800" dirty="0"/>
          </a:p>
        </p:txBody>
      </p:sp>
      <p:sp>
        <p:nvSpPr>
          <p:cNvPr id="8" name="椭圆 7"/>
          <p:cNvSpPr/>
          <p:nvPr/>
        </p:nvSpPr>
        <p:spPr>
          <a:xfrm>
            <a:off x="5807824" y="2103178"/>
            <a:ext cx="498990" cy="494985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9" name="直接连接符 8"/>
          <p:cNvCxnSpPr>
            <a:stCxn id="6" idx="6"/>
            <a:endCxn id="8" idx="2"/>
          </p:cNvCxnSpPr>
          <p:nvPr/>
        </p:nvCxnSpPr>
        <p:spPr>
          <a:xfrm flipV="1">
            <a:off x="3393725" y="2350671"/>
            <a:ext cx="2414099" cy="2780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6" idx="5"/>
            <a:endCxn id="7" idx="2"/>
          </p:cNvCxnSpPr>
          <p:nvPr/>
        </p:nvCxnSpPr>
        <p:spPr>
          <a:xfrm>
            <a:off x="3315735" y="2530420"/>
            <a:ext cx="1040349" cy="432835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7" idx="6"/>
            <a:endCxn id="8" idx="3"/>
          </p:cNvCxnSpPr>
          <p:nvPr/>
        </p:nvCxnSpPr>
        <p:spPr>
          <a:xfrm flipV="1">
            <a:off x="4815136" y="2525674"/>
            <a:ext cx="1065763" cy="437581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64"/>
          <p:cNvSpPr txBox="1"/>
          <p:nvPr/>
        </p:nvSpPr>
        <p:spPr>
          <a:xfrm>
            <a:off x="3558919" y="2777628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4</a:t>
            </a:r>
            <a:endParaRPr lang="zh-CN" altLang="en-US" sz="2000" b="1" dirty="0"/>
          </a:p>
        </p:txBody>
      </p:sp>
      <p:sp>
        <p:nvSpPr>
          <p:cNvPr id="18" name="文本框 166"/>
          <p:cNvSpPr txBox="1"/>
          <p:nvPr/>
        </p:nvSpPr>
        <p:spPr>
          <a:xfrm>
            <a:off x="5249002" y="2723875"/>
            <a:ext cx="558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>
                <a:solidFill>
                  <a:srgbClr val="FF0000"/>
                </a:solidFill>
              </a:rPr>
              <a:t>- 4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文本框 168"/>
          <p:cNvSpPr txBox="1"/>
          <p:nvPr/>
        </p:nvSpPr>
        <p:spPr>
          <a:xfrm>
            <a:off x="4380016" y="1988840"/>
            <a:ext cx="383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1</a:t>
            </a:r>
            <a:endParaRPr lang="zh-CN" altLang="en-US" sz="2000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2771800" y="3430382"/>
            <a:ext cx="3370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Shortest Path:   </a:t>
            </a:r>
            <a:r>
              <a:rPr lang="en-US" altLang="zh-CN" sz="2400" b="1" i="1" dirty="0" smtClean="0">
                <a:solidFill>
                  <a:srgbClr val="00CC00"/>
                </a:solidFill>
                <a:latin typeface="+mj-lt"/>
              </a:rPr>
              <a:t>s</a:t>
            </a:r>
            <a:r>
              <a:rPr lang="zh-CN" altLang="en-US" sz="2400" dirty="0" smtClean="0">
                <a:solidFill>
                  <a:srgbClr val="00CC00"/>
                </a:solidFill>
                <a:latin typeface="+mj-lt"/>
              </a:rPr>
              <a:t>→ </a:t>
            </a:r>
            <a:r>
              <a:rPr lang="en-US" altLang="zh-CN" sz="2400" dirty="0" smtClean="0">
                <a:solidFill>
                  <a:srgbClr val="00CC00"/>
                </a:solidFill>
                <a:latin typeface="+mj-lt"/>
              </a:rPr>
              <a:t>A </a:t>
            </a:r>
            <a:r>
              <a:rPr lang="zh-CN" altLang="en-US" sz="2400" dirty="0" smtClean="0">
                <a:solidFill>
                  <a:srgbClr val="00CC00"/>
                </a:solidFill>
                <a:latin typeface="+mj-lt"/>
              </a:rPr>
              <a:t>→ </a:t>
            </a:r>
            <a:r>
              <a:rPr lang="en-US" altLang="zh-CN" sz="2400" b="1" i="1" dirty="0" smtClean="0">
                <a:solidFill>
                  <a:srgbClr val="00CC00"/>
                </a:solidFill>
                <a:latin typeface="+mj-lt"/>
              </a:rPr>
              <a:t>t </a:t>
            </a:r>
            <a:r>
              <a:rPr lang="en-US" altLang="zh-CN" sz="2400" dirty="0" smtClean="0">
                <a:solidFill>
                  <a:srgbClr val="00CC00"/>
                </a:solidFill>
                <a:latin typeface="+mj-lt"/>
              </a:rPr>
              <a:t> </a:t>
            </a:r>
            <a:endParaRPr lang="zh-CN" altLang="en-US" sz="2400" dirty="0">
              <a:solidFill>
                <a:srgbClr val="00CC00"/>
              </a:solidFill>
              <a:latin typeface="+mj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71800" y="3943509"/>
            <a:ext cx="3894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Dijkstra’s Path: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+mj-lt"/>
              </a:rPr>
              <a:t>s</a:t>
            </a:r>
            <a:r>
              <a:rPr lang="en-US" altLang="zh-CN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+mj-lt"/>
              </a:rPr>
              <a:t>→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+mj-lt"/>
              </a:rPr>
              <a:t>t </a:t>
            </a:r>
            <a:r>
              <a:rPr lang="en-US" altLang="zh-CN" sz="2400" dirty="0" smtClean="0">
                <a:solidFill>
                  <a:srgbClr val="FF0000"/>
                </a:solidFill>
                <a:latin typeface="+mj-lt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17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4948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16" grpId="0"/>
      <p:bldP spid="18" grpId="0"/>
      <p:bldP spid="20" grpId="0"/>
      <p:bldP spid="38" grpId="0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Remark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All</a:t>
            </a:r>
            <a:r>
              <a:rPr lang="en-US" altLang="zh-CN" dirty="0" smtClean="0"/>
              <a:t> the weights should be </a:t>
            </a:r>
            <a:r>
              <a:rPr lang="en-US" altLang="zh-CN" dirty="0" smtClean="0">
                <a:solidFill>
                  <a:srgbClr val="FF0000"/>
                </a:solidFill>
              </a:rPr>
              <a:t>non-negative</a:t>
            </a:r>
            <a:r>
              <a:rPr lang="en-US" altLang="zh-CN" dirty="0" smtClean="0"/>
              <a:t>!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Solution: 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?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/>
              <a:t>Add a positive value to all the weights.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Other algorithms, e.g., </a:t>
            </a:r>
            <a:r>
              <a:rPr lang="en-US" altLang="zh-CN" dirty="0" smtClean="0">
                <a:hlinkClick r:id="rId3"/>
              </a:rPr>
              <a:t>Bellman Ford Algorithm</a:t>
            </a:r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2861179" y="2103178"/>
            <a:ext cx="532546" cy="500545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i="1" dirty="0" smtClean="0">
                <a:solidFill>
                  <a:schemeClr val="tx1"/>
                </a:solidFill>
              </a:rPr>
              <a:t>s</a:t>
            </a:r>
            <a:endParaRPr lang="zh-CN" altLang="en-US" sz="3600" b="1" i="1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4356084" y="2745471"/>
            <a:ext cx="459052" cy="435567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800" dirty="0" smtClean="0"/>
              <a:t>A</a:t>
            </a:r>
            <a:endParaRPr lang="zh-CN" altLang="en-US" sz="2800" dirty="0"/>
          </a:p>
        </p:txBody>
      </p:sp>
      <p:sp>
        <p:nvSpPr>
          <p:cNvPr id="8" name="椭圆 7"/>
          <p:cNvSpPr/>
          <p:nvPr/>
        </p:nvSpPr>
        <p:spPr>
          <a:xfrm>
            <a:off x="5807824" y="2103178"/>
            <a:ext cx="498990" cy="494985"/>
          </a:xfrm>
          <a:prstGeom prst="ellips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b="1" i="1" dirty="0" smtClean="0"/>
              <a:t>t</a:t>
            </a:r>
            <a:endParaRPr lang="zh-CN" altLang="en-US" sz="3600" b="1" i="1" dirty="0"/>
          </a:p>
        </p:txBody>
      </p:sp>
      <p:cxnSp>
        <p:nvCxnSpPr>
          <p:cNvPr id="9" name="直接连接符 8"/>
          <p:cNvCxnSpPr>
            <a:stCxn id="6" idx="6"/>
            <a:endCxn id="8" idx="2"/>
          </p:cNvCxnSpPr>
          <p:nvPr/>
        </p:nvCxnSpPr>
        <p:spPr>
          <a:xfrm flipV="1">
            <a:off x="3393725" y="2350671"/>
            <a:ext cx="2414099" cy="2780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6" idx="5"/>
            <a:endCxn id="7" idx="2"/>
          </p:cNvCxnSpPr>
          <p:nvPr/>
        </p:nvCxnSpPr>
        <p:spPr>
          <a:xfrm>
            <a:off x="3315735" y="2530420"/>
            <a:ext cx="1040349" cy="432835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7" idx="6"/>
            <a:endCxn id="8" idx="3"/>
          </p:cNvCxnSpPr>
          <p:nvPr/>
        </p:nvCxnSpPr>
        <p:spPr>
          <a:xfrm flipV="1">
            <a:off x="4815136" y="2525674"/>
            <a:ext cx="1065763" cy="437581"/>
          </a:xfrm>
          <a:prstGeom prst="line">
            <a:avLst/>
          </a:prstGeom>
          <a:ln w="76200">
            <a:solidFill>
              <a:schemeClr val="bg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64"/>
          <p:cNvSpPr txBox="1"/>
          <p:nvPr/>
        </p:nvSpPr>
        <p:spPr>
          <a:xfrm>
            <a:off x="3558919" y="2777628"/>
            <a:ext cx="3863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4</a:t>
            </a:r>
            <a:endParaRPr lang="zh-CN" altLang="en-US" sz="2000" b="1" dirty="0"/>
          </a:p>
        </p:txBody>
      </p:sp>
      <p:sp>
        <p:nvSpPr>
          <p:cNvPr id="18" name="文本框 166"/>
          <p:cNvSpPr txBox="1"/>
          <p:nvPr/>
        </p:nvSpPr>
        <p:spPr>
          <a:xfrm>
            <a:off x="5249002" y="2723875"/>
            <a:ext cx="558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>
                <a:solidFill>
                  <a:srgbClr val="FF0000"/>
                </a:solidFill>
              </a:rPr>
              <a:t>- 4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20" name="文本框 168"/>
          <p:cNvSpPr txBox="1"/>
          <p:nvPr/>
        </p:nvSpPr>
        <p:spPr>
          <a:xfrm>
            <a:off x="4380016" y="1988840"/>
            <a:ext cx="383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charset="-122"/>
                <a:cs typeface="+mn-cs"/>
              </a:defRPr>
            </a:lvl9pPr>
          </a:lstStyle>
          <a:p>
            <a:r>
              <a:rPr lang="en-US" altLang="zh-CN" sz="2000" b="1" dirty="0" smtClean="0"/>
              <a:t>1</a:t>
            </a:r>
            <a:endParaRPr lang="zh-CN" altLang="en-US" sz="2000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2771800" y="3430382"/>
            <a:ext cx="3370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Shortest Path:   </a:t>
            </a:r>
            <a:r>
              <a:rPr lang="en-US" altLang="zh-CN" sz="2400" b="1" i="1" dirty="0" smtClean="0">
                <a:solidFill>
                  <a:srgbClr val="00CC00"/>
                </a:solidFill>
                <a:latin typeface="+mj-lt"/>
              </a:rPr>
              <a:t>s</a:t>
            </a:r>
            <a:r>
              <a:rPr lang="zh-CN" altLang="en-US" sz="2400" dirty="0" smtClean="0">
                <a:solidFill>
                  <a:srgbClr val="00CC00"/>
                </a:solidFill>
                <a:latin typeface="+mj-lt"/>
              </a:rPr>
              <a:t>→ </a:t>
            </a:r>
            <a:r>
              <a:rPr lang="en-US" altLang="zh-CN" sz="2400" dirty="0" smtClean="0">
                <a:solidFill>
                  <a:srgbClr val="00CC00"/>
                </a:solidFill>
                <a:latin typeface="+mj-lt"/>
              </a:rPr>
              <a:t>A </a:t>
            </a:r>
            <a:r>
              <a:rPr lang="zh-CN" altLang="en-US" sz="2400" dirty="0" smtClean="0">
                <a:solidFill>
                  <a:srgbClr val="00CC00"/>
                </a:solidFill>
                <a:latin typeface="+mj-lt"/>
              </a:rPr>
              <a:t>→ </a:t>
            </a:r>
            <a:r>
              <a:rPr lang="en-US" altLang="zh-CN" sz="2400" b="1" i="1" dirty="0" smtClean="0">
                <a:solidFill>
                  <a:srgbClr val="00CC00"/>
                </a:solidFill>
                <a:latin typeface="+mj-lt"/>
              </a:rPr>
              <a:t>t </a:t>
            </a:r>
            <a:r>
              <a:rPr lang="en-US" altLang="zh-CN" sz="2400" dirty="0" smtClean="0">
                <a:solidFill>
                  <a:srgbClr val="00CC00"/>
                </a:solidFill>
                <a:latin typeface="+mj-lt"/>
              </a:rPr>
              <a:t> </a:t>
            </a:r>
            <a:endParaRPr lang="zh-CN" altLang="en-US" sz="2400" dirty="0">
              <a:solidFill>
                <a:srgbClr val="00CC00"/>
              </a:solidFill>
              <a:latin typeface="+mj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71800" y="3943509"/>
            <a:ext cx="3894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Dijkstra’s Path: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+mj-lt"/>
              </a:rPr>
              <a:t>s</a:t>
            </a:r>
            <a:r>
              <a:rPr lang="en-US" altLang="zh-CN" sz="2400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+mj-lt"/>
              </a:rPr>
              <a:t>→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+mj-lt"/>
              </a:rPr>
              <a:t>t </a:t>
            </a:r>
            <a:r>
              <a:rPr lang="en-US" altLang="zh-CN" sz="2400" dirty="0" smtClean="0">
                <a:solidFill>
                  <a:srgbClr val="FF0000"/>
                </a:solidFill>
                <a:latin typeface="+mj-lt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乘号 23"/>
          <p:cNvSpPr/>
          <p:nvPr/>
        </p:nvSpPr>
        <p:spPr>
          <a:xfrm>
            <a:off x="7596336" y="5229200"/>
            <a:ext cx="554360" cy="648072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255894" y="5608850"/>
            <a:ext cx="564578" cy="923330"/>
          </a:xfrm>
          <a:custGeom>
            <a:avLst/>
            <a:gdLst>
              <a:gd name="connsiteX0" fmla="*/ 0 w 564577"/>
              <a:gd name="connsiteY0" fmla="*/ 0 h 923330"/>
              <a:gd name="connsiteX1" fmla="*/ 564577 w 564577"/>
              <a:gd name="connsiteY1" fmla="*/ 0 h 923330"/>
              <a:gd name="connsiteX2" fmla="*/ 564577 w 564577"/>
              <a:gd name="connsiteY2" fmla="*/ 923330 h 923330"/>
              <a:gd name="connsiteX3" fmla="*/ 0 w 564577"/>
              <a:gd name="connsiteY3" fmla="*/ 923330 h 923330"/>
              <a:gd name="connsiteX4" fmla="*/ 0 w 564577"/>
              <a:gd name="connsiteY4" fmla="*/ 0 h 923330"/>
              <a:gd name="connsiteX0" fmla="*/ 0 w 952035"/>
              <a:gd name="connsiteY0" fmla="*/ 0 h 923330"/>
              <a:gd name="connsiteX1" fmla="*/ 952035 w 952035"/>
              <a:gd name="connsiteY1" fmla="*/ 0 h 923330"/>
              <a:gd name="connsiteX2" fmla="*/ 564577 w 952035"/>
              <a:gd name="connsiteY2" fmla="*/ 923330 h 923330"/>
              <a:gd name="connsiteX3" fmla="*/ 0 w 952035"/>
              <a:gd name="connsiteY3" fmla="*/ 923330 h 923330"/>
              <a:gd name="connsiteX4" fmla="*/ 0 w 952035"/>
              <a:gd name="connsiteY4" fmla="*/ 0 h 923330"/>
              <a:gd name="connsiteX0" fmla="*/ 0 w 611072"/>
              <a:gd name="connsiteY0" fmla="*/ 0 h 923330"/>
              <a:gd name="connsiteX1" fmla="*/ 611072 w 611072"/>
              <a:gd name="connsiteY1" fmla="*/ 15498 h 923330"/>
              <a:gd name="connsiteX2" fmla="*/ 564577 w 611072"/>
              <a:gd name="connsiteY2" fmla="*/ 923330 h 923330"/>
              <a:gd name="connsiteX3" fmla="*/ 0 w 611072"/>
              <a:gd name="connsiteY3" fmla="*/ 923330 h 923330"/>
              <a:gd name="connsiteX4" fmla="*/ 0 w 611072"/>
              <a:gd name="connsiteY4" fmla="*/ 0 h 92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072" h="923330">
                <a:moveTo>
                  <a:pt x="0" y="0"/>
                </a:moveTo>
                <a:lnTo>
                  <a:pt x="611072" y="15498"/>
                </a:lnTo>
                <a:lnTo>
                  <a:pt x="564577" y="923330"/>
                </a:lnTo>
                <a:lnTo>
                  <a:pt x="0" y="92333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 smtClean="0">
                <a:ln w="0"/>
                <a:solidFill>
                  <a:srgbClr val="00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√</a:t>
            </a:r>
            <a:endParaRPr lang="zh-CN" altLang="en-US" sz="5400" b="0" cap="none" spc="0" dirty="0">
              <a:ln w="0"/>
              <a:solidFill>
                <a:srgbClr val="00CC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18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525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16" grpId="0"/>
      <p:bldP spid="18" grpId="0"/>
      <p:bldP spid="20" grpId="0"/>
      <p:bldP spid="38" grpId="0"/>
      <p:bldP spid="39" grpId="0"/>
      <p:bldP spid="24" grpId="0" animBg="1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4691" y="1232756"/>
            <a:ext cx="6707088" cy="3168352"/>
          </a:xfrm>
        </p:spPr>
        <p:txBody>
          <a:bodyPr/>
          <a:lstStyle/>
          <a:p>
            <a:r>
              <a:rPr lang="en-US" altLang="zh-CN" dirty="0" smtClean="0"/>
              <a:t>Dijkstra’s algorithm</a:t>
            </a:r>
          </a:p>
          <a:p>
            <a:pPr lvl="1"/>
            <a:r>
              <a:rPr lang="en-US" altLang="zh-CN" dirty="0" smtClean="0"/>
              <a:t>Initialization</a:t>
            </a:r>
          </a:p>
          <a:p>
            <a:pPr lvl="2"/>
            <a:r>
              <a:rPr lang="en-US" altLang="zh-CN" dirty="0" smtClean="0"/>
              <a:t>Distances</a:t>
            </a:r>
          </a:p>
          <a:p>
            <a:pPr lvl="2"/>
            <a:r>
              <a:rPr lang="en-US" altLang="zh-CN" dirty="0" smtClean="0"/>
              <a:t>Predecessors</a:t>
            </a:r>
          </a:p>
          <a:p>
            <a:pPr lvl="1"/>
            <a:r>
              <a:rPr lang="en-US" altLang="zh-CN" dirty="0" smtClean="0"/>
              <a:t>Path finding </a:t>
            </a:r>
          </a:p>
          <a:p>
            <a:pPr lvl="2"/>
            <a:r>
              <a:rPr lang="en-US" altLang="zh-CN" dirty="0" smtClean="0"/>
              <a:t>Find the node </a:t>
            </a:r>
            <a:r>
              <a:rPr lang="en-US" altLang="zh-CN" b="1" i="1" dirty="0" smtClean="0"/>
              <a:t>v </a:t>
            </a:r>
            <a:r>
              <a:rPr lang="en-US" altLang="zh-CN" dirty="0" smtClean="0"/>
              <a:t>in Q with min-distance</a:t>
            </a:r>
          </a:p>
          <a:p>
            <a:pPr lvl="2"/>
            <a:r>
              <a:rPr lang="en-US" altLang="zh-CN" dirty="0" smtClean="0"/>
              <a:t>Update the distances of </a:t>
            </a:r>
            <a:r>
              <a:rPr lang="en-US" altLang="zh-CN" b="1" i="1" dirty="0" smtClean="0"/>
              <a:t>v’</a:t>
            </a:r>
            <a:r>
              <a:rPr lang="en-US" altLang="zh-CN" dirty="0" smtClean="0"/>
              <a:t>s neighbors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19</a:t>
            </a:fld>
            <a:endParaRPr lang="zh-CN" altLang="zh-CN"/>
          </a:p>
        </p:txBody>
      </p:sp>
      <p:sp>
        <p:nvSpPr>
          <p:cNvPr id="6" name="TextBox 5"/>
          <p:cNvSpPr txBox="1"/>
          <p:nvPr/>
        </p:nvSpPr>
        <p:spPr>
          <a:xfrm>
            <a:off x="560405" y="4653136"/>
            <a:ext cx="7416824" cy="2874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hangingPunct="0">
              <a:spcBef>
                <a:spcPct val="20000"/>
              </a:spcBef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en-US" altLang="zh-CN" sz="3200" kern="0" dirty="0" smtClean="0">
                <a:solidFill>
                  <a:srgbClr val="000000"/>
                </a:solidFill>
                <a:latin typeface="Times New Roman"/>
                <a:ea typeface="宋体"/>
              </a:rPr>
              <a:t>More…</a:t>
            </a:r>
            <a:endParaRPr lang="en-US" altLang="zh-CN" sz="3200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n-US" altLang="zh-CN" sz="2800" b="1" i="1" kern="0" dirty="0">
                <a:solidFill>
                  <a:srgbClr val="000000"/>
                </a:solidFill>
                <a:latin typeface="Times New Roman"/>
                <a:ea typeface="宋体"/>
              </a:rPr>
              <a:t>Section 24.3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 of 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/>
                <a:ea typeface="宋体"/>
              </a:rPr>
              <a:t>Introduction to Algorithms</a:t>
            </a:r>
            <a:endParaRPr lang="en-US" altLang="zh-CN" sz="2800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rgbClr val="00007D"/>
              </a:buClr>
              <a:buSzPct val="65000"/>
              <a:buFont typeface="Wingdings" pitchFamily="2" charset="2"/>
              <a:buChar char="n"/>
            </a:pPr>
            <a:r>
              <a:rPr lang="en-US" altLang="zh-CN" sz="2400" kern="0" dirty="0">
                <a:solidFill>
                  <a:srgbClr val="000000"/>
                </a:solidFill>
                <a:latin typeface="Times New Roman"/>
                <a:ea typeface="宋体"/>
              </a:rPr>
              <a:t>Time complexity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rgbClr val="00007D"/>
              </a:buClr>
              <a:buSzPct val="65000"/>
              <a:buFont typeface="Wingdings" pitchFamily="2" charset="2"/>
              <a:buChar char="n"/>
            </a:pPr>
            <a:r>
              <a:rPr lang="en-US" altLang="zh-CN" sz="2400" dirty="0" smtClean="0">
                <a:latin typeface="+mn-lt"/>
              </a:rPr>
              <a:t>Proof </a:t>
            </a:r>
            <a:r>
              <a:rPr lang="en-US" altLang="zh-CN" sz="2400" dirty="0">
                <a:latin typeface="+mn-lt"/>
              </a:rPr>
              <a:t>of correctness</a:t>
            </a:r>
          </a:p>
          <a:p>
            <a:pPr marL="1143000" lvl="2" indent="-228600" eaLnBrk="0" hangingPunct="0">
              <a:spcBef>
                <a:spcPct val="20000"/>
              </a:spcBef>
              <a:buClr>
                <a:srgbClr val="00007D"/>
              </a:buClr>
              <a:buSzPct val="65000"/>
              <a:buFont typeface="Wingdings" pitchFamily="2" charset="2"/>
              <a:buChar char="n"/>
            </a:pPr>
            <a:endParaRPr lang="en-US" altLang="zh-CN" sz="2400" kern="0" dirty="0" smtClean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1143000" lvl="2" indent="-228600" eaLnBrk="0" hangingPunct="0">
              <a:spcBef>
                <a:spcPct val="20000"/>
              </a:spcBef>
              <a:buClr>
                <a:srgbClr val="00007D"/>
              </a:buClr>
              <a:buSzPct val="65000"/>
              <a:buFont typeface="Wingdings" pitchFamily="2" charset="2"/>
              <a:buChar char="n"/>
            </a:pPr>
            <a:endParaRPr lang="en-US" altLang="zh-CN" sz="2400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41795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935" y="332656"/>
            <a:ext cx="8332075" cy="647700"/>
          </a:xfrm>
        </p:spPr>
        <p:txBody>
          <a:bodyPr/>
          <a:lstStyle/>
          <a:p>
            <a:r>
              <a:rPr lang="en-US" altLang="zh-CN" dirty="0" err="1"/>
              <a:t>Dijkstra’s</a:t>
            </a:r>
            <a:r>
              <a:rPr lang="en-US" altLang="zh-CN" dirty="0"/>
              <a:t> algorithm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608" y="1307033"/>
            <a:ext cx="6120680" cy="1729259"/>
          </a:xfrm>
        </p:spPr>
        <p:txBody>
          <a:bodyPr/>
          <a:lstStyle/>
          <a:p>
            <a:pPr marL="0" indent="0">
              <a:buNone/>
            </a:pPr>
            <a:endParaRPr lang="en-US" altLang="zh-CN" dirty="0" smtClean="0"/>
          </a:p>
          <a:p>
            <a:pPr lvl="1"/>
            <a:r>
              <a:rPr lang="en-US" altLang="zh-CN" dirty="0" smtClean="0"/>
              <a:t>Email: </a:t>
            </a:r>
            <a:r>
              <a:rPr lang="en-US" altLang="zh-CN" dirty="0" smtClean="0">
                <a:hlinkClick r:id="rId2"/>
              </a:rPr>
              <a:t>mzhang@cse.cuhk.edu.hk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Office: Room 120, SHB, CUHK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7B2FBF-7C1F-440E-AB34-E2D6741F2734}" type="slidenum">
              <a:rPr lang="zh-CN" altLang="zh-CN" smtClean="0"/>
              <a:pPr>
                <a:defRPr/>
              </a:pPr>
              <a:t>20</a:t>
            </a:fld>
            <a:endParaRPr lang="zh-CN" altLang="zh-CN"/>
          </a:p>
        </p:txBody>
      </p:sp>
      <p:sp>
        <p:nvSpPr>
          <p:cNvPr id="4" name="TextBox 3"/>
          <p:cNvSpPr txBox="1"/>
          <p:nvPr/>
        </p:nvSpPr>
        <p:spPr>
          <a:xfrm>
            <a:off x="2339752" y="3861048"/>
            <a:ext cx="3888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+mn-lt"/>
              </a:rPr>
              <a:t>Thank you!</a:t>
            </a:r>
            <a:endParaRPr lang="en-US" sz="5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577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博士答辩模板</Template>
  <TotalTime>20482</TotalTime>
  <Pages>0</Pages>
  <Words>1208</Words>
  <Characters>0</Characters>
  <Application>Microsoft Macintosh PowerPoint</Application>
  <DocSecurity>0</DocSecurity>
  <PresentationFormat>On-screen Show (4:3)</PresentationFormat>
  <Lines>0</Lines>
  <Paragraphs>718</Paragraphs>
  <Slides>20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宋体</vt:lpstr>
      <vt:lpstr>黑体</vt:lpstr>
      <vt:lpstr>Pixel</vt:lpstr>
      <vt:lpstr>Equation</vt:lpstr>
      <vt:lpstr>A Shortest Path Algorithm</vt:lpstr>
      <vt:lpstr>Introduction - Background</vt:lpstr>
      <vt:lpstr>Introduction - Concepts</vt:lpstr>
      <vt:lpstr>Introduction - Concepts</vt:lpstr>
      <vt:lpstr>Demo – Finding shortest path from s</vt:lpstr>
      <vt:lpstr>Demo – Finding shortest path from s</vt:lpstr>
      <vt:lpstr>Demo – Finding shortest path from s</vt:lpstr>
      <vt:lpstr>Demo – Finding shortest path from s</vt:lpstr>
      <vt:lpstr>Demo – Finding shortest path from s</vt:lpstr>
      <vt:lpstr>Demo – Finding shortest path from s</vt:lpstr>
      <vt:lpstr>Demo – Finding shortest path from s</vt:lpstr>
      <vt:lpstr>Demo – Finding shortest path from s</vt:lpstr>
      <vt:lpstr>Demo – Finding shortest path from s</vt:lpstr>
      <vt:lpstr>Demo – Finding shortest path from s</vt:lpstr>
      <vt:lpstr>Algorithm - Pseudo code</vt:lpstr>
      <vt:lpstr>Remark</vt:lpstr>
      <vt:lpstr>Remark</vt:lpstr>
      <vt:lpstr>Remark</vt:lpstr>
      <vt:lpstr>Summary</vt:lpstr>
      <vt:lpstr>Dijkstra’s algorithm</vt:lpstr>
    </vt:vector>
  </TitlesOfParts>
  <Company>wliu</Company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华中科技大学博士论文答辩会</dc:title>
  <dc:creator>wliu</dc:creator>
  <cp:lastModifiedBy>ZHANG, Mi</cp:lastModifiedBy>
  <cp:revision>1230</cp:revision>
  <cp:lastPrinted>2014-08-28T02:17:56Z</cp:lastPrinted>
  <dcterms:created xsi:type="dcterms:W3CDTF">2006-05-03T02:09:52Z</dcterms:created>
  <dcterms:modified xsi:type="dcterms:W3CDTF">2015-08-28T04:50:01Z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2052-6.3.0.1705</vt:lpwstr>
  </property>
</Properties>
</file>